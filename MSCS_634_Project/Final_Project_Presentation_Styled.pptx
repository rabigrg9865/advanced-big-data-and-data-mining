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K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61DA6-54C8-4334-A5AA-1A88B8A3F172}" v="3" dt="2026-08-18T23:00:21.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903" autoAdjust="0"/>
  </p:normalViewPr>
  <p:slideViewPr>
    <p:cSldViewPr snapToGrid="0">
      <p:cViewPr varScale="1">
        <p:scale>
          <a:sx n="115" d="100"/>
          <a:sy n="115" d="100"/>
        </p:scale>
        <p:origin x="25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bi Gurung" userId="272ff4418176b28d" providerId="LiveId" clId="{DCBCCD15-FA37-40F4-ADE6-511602E54E9F}"/>
    <pc:docChg chg="modSld">
      <pc:chgData name="Rabi Gurung" userId="272ff4418176b28d" providerId="LiveId" clId="{DCBCCD15-FA37-40F4-ADE6-511602E54E9F}" dt="2026-08-21T17:57:24.388" v="12" actId="20577"/>
      <pc:docMkLst>
        <pc:docMk/>
      </pc:docMkLst>
      <pc:sldChg chg="modSp mod">
        <pc:chgData name="Rabi Gurung" userId="272ff4418176b28d" providerId="LiveId" clId="{DCBCCD15-FA37-40F4-ADE6-511602E54E9F}" dt="2026-08-21T17:57:24.388" v="12" actId="20577"/>
        <pc:sldMkLst>
          <pc:docMk/>
          <pc:sldMk cId="504531771" sldId="256"/>
        </pc:sldMkLst>
        <pc:spChg chg="mod">
          <ac:chgData name="Rabi Gurung" userId="272ff4418176b28d" providerId="LiveId" clId="{DCBCCD15-FA37-40F4-ADE6-511602E54E9F}" dt="2026-08-18T23:00:21.328" v="3" actId="1076"/>
          <ac:spMkLst>
            <pc:docMk/>
            <pc:sldMk cId="504531771" sldId="256"/>
            <ac:spMk id="2" creationId="{90ACA3EA-5982-A4F9-8834-5AD8F80CA917}"/>
          </ac:spMkLst>
        </pc:spChg>
        <pc:spChg chg="mod">
          <ac:chgData name="Rabi Gurung" userId="272ff4418176b28d" providerId="LiveId" clId="{DCBCCD15-FA37-40F4-ADE6-511602E54E9F}" dt="2026-08-21T17:57:24.388" v="12" actId="20577"/>
          <ac:spMkLst>
            <pc:docMk/>
            <pc:sldMk cId="504531771" sldId="256"/>
            <ac:spMk id="6" creationId="{1CBF588D-A92B-DDFF-E67C-D04A83B0B4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6F3F58-4CE1-4F3E-9AA6-6820D23484D5}" type="datetimeFigureOut">
              <a:rPr lang="en-KE" smtClean="0"/>
              <a:t>08/21/2026</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10CB7-230C-4915-A1B6-959D9EFBA8A2}" type="slidenum">
              <a:rPr lang="en-KE" smtClean="0"/>
              <a:t>‹#›</a:t>
            </a:fld>
            <a:endParaRPr lang="en-KE"/>
          </a:p>
        </p:txBody>
      </p:sp>
    </p:spTree>
    <p:extLst>
      <p:ext uri="{BB962C8B-B14F-4D97-AF65-F5344CB8AC3E}">
        <p14:creationId xmlns:p14="http://schemas.microsoft.com/office/powerpoint/2010/main" val="792471400"/>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This presentation summarizes my final MSCS 634 project on wine quality data mining. I used the UCI Red Wine Quality dataset to move from exploration into prediction and practical insights. I will cover the data, the main findings, the models, and the limits of using these results in real decisions.</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1</a:t>
            </a:fld>
            <a:endParaRPr lang="en-KE"/>
          </a:p>
        </p:txBody>
      </p:sp>
    </p:spTree>
    <p:extLst>
      <p:ext uri="{BB962C8B-B14F-4D97-AF65-F5344CB8AC3E}">
        <p14:creationId xmlns:p14="http://schemas.microsoft.com/office/powerpoint/2010/main" val="1701689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raw dataset contains 1,599 records of red wine. Each record includes chemical measurements, such as alcohol and acidity, plus a quality score. I removed duplicates and reviewed noisy outliers before modeling. This matters because clean and consistent data gives every later analysis a more reliable starting point.</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2</a:t>
            </a:fld>
            <a:endParaRPr lang="en-KE"/>
          </a:p>
        </p:txBody>
      </p:sp>
    </p:spTree>
    <p:extLst>
      <p:ext uri="{BB962C8B-B14F-4D97-AF65-F5344CB8AC3E}">
        <p14:creationId xmlns:p14="http://schemas.microsoft.com/office/powerpoint/2010/main" val="3425704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chart shows that most wines in the dataset received quality scores of five or six. The exploratory analysis also revealed two clear patterns. Higher alcohol tends to be associated with higher quality, while higher volatile acidity tends to be associated with lower quality. These early patterns helped guide the later modeling choices.</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3</a:t>
            </a:fld>
            <a:endParaRPr lang="en-KE"/>
          </a:p>
        </p:txBody>
      </p:sp>
    </p:spTree>
    <p:extLst>
      <p:ext uri="{BB962C8B-B14F-4D97-AF65-F5344CB8AC3E}">
        <p14:creationId xmlns:p14="http://schemas.microsoft.com/office/powerpoint/2010/main" val="3670144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regression, I predicted the numeric quality score using Multiple Linear Regression and Ridge Regression. I assessed the models with R-squared, mean squared error, root mean squared error, and cross-validation. The results showed modest predictive power. Ridge regression was preferred because it was more stable. The key message is that chemistry explains part of quality, but not all of it.</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4</a:t>
            </a:fld>
            <a:endParaRPr lang="en-KE"/>
          </a:p>
        </p:txBody>
      </p:sp>
    </p:spTree>
    <p:extLst>
      <p:ext uri="{BB962C8B-B14F-4D97-AF65-F5344CB8AC3E}">
        <p14:creationId xmlns:p14="http://schemas.microsoft.com/office/powerpoint/2010/main" val="3050971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classification, I changed the quality score into a higher or lower quality category. I compared a Decision Tree with k-Nearest Neighbors, and I tuned k-NN using GridSearchCV. Accuracy and F1 score show that classification can help with an early screening decision. It should support a human review, not replace it.</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5</a:t>
            </a:fld>
            <a:endParaRPr lang="en-KE"/>
          </a:p>
        </p:txBody>
      </p:sp>
    </p:spTree>
    <p:extLst>
      <p:ext uri="{BB962C8B-B14F-4D97-AF65-F5344CB8AC3E}">
        <p14:creationId xmlns:p14="http://schemas.microsoft.com/office/powerpoint/2010/main" val="518040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part of the project looks beyond prediction. K-Means clustering found three groups of wines with different chemical profiles. The PCA chart makes those groups easier to see. Association rule mining then helped translate the patterns into understandable relationships. One repeated pattern was that higher alcohol and lower volatile acidity were aligned with higher quality.</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6</a:t>
            </a:fld>
            <a:endParaRPr lang="en-KE"/>
          </a:p>
        </p:txBody>
      </p:sp>
    </p:spTree>
    <p:extLst>
      <p:ext uri="{BB962C8B-B14F-4D97-AF65-F5344CB8AC3E}">
        <p14:creationId xmlns:p14="http://schemas.microsoft.com/office/powerpoint/2010/main" val="2098033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important limits to these results. The dataset represents one type of red wine from one region, so the findings should not be treated as universal. Quality scores also include human judgment. For those reasons, the models should be used as decision support. They need external validation before they are used for pricing, marketing, or production decisions.</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7</a:t>
            </a:fld>
            <a:endParaRPr lang="en-KE"/>
          </a:p>
        </p:txBody>
      </p:sp>
    </p:spTree>
    <p:extLst>
      <p:ext uri="{BB962C8B-B14F-4D97-AF65-F5344CB8AC3E}">
        <p14:creationId xmlns:p14="http://schemas.microsoft.com/office/powerpoint/2010/main" val="2098466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recommendations are straightforward. First, keep the strongest chemical indicators, especially alcohol, volatile acidity, sulphates, and density. Second, use classification for early screening and clustering for profile-based decisions. Third, improve future models with sensory, production, region, and consumer preference information. That extra context should improve both accuracy and usefulness.</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8</a:t>
            </a:fld>
            <a:endParaRPr lang="en-KE"/>
          </a:p>
        </p:txBody>
      </p:sp>
    </p:spTree>
    <p:extLst>
      <p:ext uri="{BB962C8B-B14F-4D97-AF65-F5344CB8AC3E}">
        <p14:creationId xmlns:p14="http://schemas.microsoft.com/office/powerpoint/2010/main" val="4186683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two primary sources for the project. The Cortez and colleagues study describes the original wine quality data mining work, and the UCI repository provides the dataset. Thank you for listening. I am ready for any questions.</a:t>
            </a:r>
            <a:endParaRPr lang="en-KE"/>
          </a:p>
        </p:txBody>
      </p:sp>
      <p:sp>
        <p:nvSpPr>
          <p:cNvPr id="4" name="Slide Number Placeholder 3"/>
          <p:cNvSpPr>
            <a:spLocks noGrp="1"/>
          </p:cNvSpPr>
          <p:nvPr>
            <p:ph type="sldNum" sz="quarter" idx="5"/>
          </p:nvPr>
        </p:nvSpPr>
        <p:spPr/>
        <p:txBody>
          <a:bodyPr/>
          <a:lstStyle/>
          <a:p>
            <a:fld id="{2F410CB7-230C-4915-A1B6-959D9EFBA8A2}" type="slidenum">
              <a:rPr lang="en-KE" smtClean="0"/>
              <a:t>9</a:t>
            </a:fld>
            <a:endParaRPr lang="en-KE"/>
          </a:p>
        </p:txBody>
      </p:sp>
    </p:spTree>
    <p:extLst>
      <p:ext uri="{BB962C8B-B14F-4D97-AF65-F5344CB8AC3E}">
        <p14:creationId xmlns:p14="http://schemas.microsoft.com/office/powerpoint/2010/main" val="775615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C827-E3ED-6F20-104E-9669B490B40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KE"/>
          </a:p>
        </p:txBody>
      </p:sp>
      <p:sp>
        <p:nvSpPr>
          <p:cNvPr id="3" name="Subtitle 2">
            <a:extLst>
              <a:ext uri="{FF2B5EF4-FFF2-40B4-BE49-F238E27FC236}">
                <a16:creationId xmlns:a16="http://schemas.microsoft.com/office/drawing/2014/main" id="{871A7542-7563-70AC-A244-86F1F28B1AB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C5E3A0EB-0D8D-D284-BD39-AF260B1854F8}"/>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AC02EE1F-ACA5-777C-C783-A912BA632710}"/>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2DD75C9-2C6C-234E-4A36-4E771790386D}"/>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627594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E30-16E4-B4FD-D6B0-95A4D09EC99F}"/>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F4465BD1-4BD0-458A-2696-DAED16032D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035D960C-97A4-46AB-44EE-8E0B5892C843}"/>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2CBD7239-A72D-A913-FB40-0CECCB4709E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01E0BD55-E463-1F23-2A0C-38C8A8B263BF}"/>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70414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3D986-7C09-5FDB-B0E3-B7F9AE987699}"/>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53BE01A2-26F9-5FEA-5B76-491FD25AAFE5}"/>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46583-0AC5-B19E-E741-27FE70FBB584}"/>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6502DBDD-B8CD-62FD-BA6B-8136CB487195}"/>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474A7E9-0888-C611-92F1-2657AE9A51C2}"/>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4102943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62E08-DBD7-B70B-470D-6F63757EBB7B}"/>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BD853725-AE16-6641-16E4-341D53BE0485}"/>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26399657-033A-87CD-4F6B-C6D2B8B9B6D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BA600635-9D62-A279-5D23-6320D8BAEE28}"/>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6" name="Footer Placeholder 5">
            <a:extLst>
              <a:ext uri="{FF2B5EF4-FFF2-40B4-BE49-F238E27FC236}">
                <a16:creationId xmlns:a16="http://schemas.microsoft.com/office/drawing/2014/main" id="{116BCC29-C417-9244-4C8E-F41A474A816B}"/>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23DE52FD-D1A0-3BA3-7801-187A64FF1883}"/>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3606568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3E472-10F5-54FD-76FA-F72CA1BF8508}"/>
              </a:ext>
            </a:extLst>
          </p:cNvPr>
          <p:cNvSpPr>
            <a:spLocks noGrp="1"/>
          </p:cNvSpPr>
          <p:nvPr>
            <p:ph type="title"/>
          </p:nvPr>
        </p:nvSpPr>
        <p:spPr>
          <a:xfrm>
            <a:off x="629841" y="273844"/>
            <a:ext cx="7886700" cy="994172"/>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CEC1DEDE-7430-CDFA-6732-913A694FCAE5}"/>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006EBD6-2FEC-F603-DD04-87A50C8B2402}"/>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4911AF36-CBDF-7F49-DCE3-9BB89C76654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3C8FA8F-45C4-ED86-8FFA-DFFAB0E30A1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26FB888C-B5E9-585D-EE45-3C3DD5A80D0D}"/>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8" name="Footer Placeholder 7">
            <a:extLst>
              <a:ext uri="{FF2B5EF4-FFF2-40B4-BE49-F238E27FC236}">
                <a16:creationId xmlns:a16="http://schemas.microsoft.com/office/drawing/2014/main" id="{9A8EC411-E307-24C1-6877-FFDFCA97E4DE}"/>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07EC3742-687B-ABAE-86C9-6F32FDF65A6F}"/>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87034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83160-DBAA-F7C8-0039-0666CBC45BC3}"/>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BC252C66-4C97-F5B1-92E1-2856E5858770}"/>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4" name="Footer Placeholder 3">
            <a:extLst>
              <a:ext uri="{FF2B5EF4-FFF2-40B4-BE49-F238E27FC236}">
                <a16:creationId xmlns:a16="http://schemas.microsoft.com/office/drawing/2014/main" id="{DD56E576-6141-BECF-1A5B-E8C51789CB3B}"/>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20508888-B8F0-0C9D-EDBA-DEDABCD26292}"/>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1064932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79ED6-3B4C-385B-0740-E66EB8E3C534}"/>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3" name="Footer Placeholder 2">
            <a:extLst>
              <a:ext uri="{FF2B5EF4-FFF2-40B4-BE49-F238E27FC236}">
                <a16:creationId xmlns:a16="http://schemas.microsoft.com/office/drawing/2014/main" id="{F235A5BC-86D1-B91F-A3B0-4B1F7C2AC699}"/>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7684EDBE-DA7D-EB8A-461F-84308A957172}"/>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3224995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F910-82F7-C43D-C40E-5E504D1E58C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76714AEC-00CC-7F8B-2D53-6223DD3402E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7D750542-CA8E-C96A-C056-13CA1C489EF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F020E51-2ABD-3058-031B-03D6C5855C12}"/>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6" name="Footer Placeholder 5">
            <a:extLst>
              <a:ext uri="{FF2B5EF4-FFF2-40B4-BE49-F238E27FC236}">
                <a16:creationId xmlns:a16="http://schemas.microsoft.com/office/drawing/2014/main" id="{FC820312-413E-4664-FFBC-48EC50A4944D}"/>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2512B9C5-1350-8FD6-5084-C500BE0701CA}"/>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2760376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CAFB-9293-DAEF-493C-FF95EECA8C6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04EC43E6-4AFC-2F36-FF52-6970AEB7D6E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KE"/>
          </a:p>
        </p:txBody>
      </p:sp>
      <p:sp>
        <p:nvSpPr>
          <p:cNvPr id="4" name="Text Placeholder 3">
            <a:extLst>
              <a:ext uri="{FF2B5EF4-FFF2-40B4-BE49-F238E27FC236}">
                <a16:creationId xmlns:a16="http://schemas.microsoft.com/office/drawing/2014/main" id="{6AB73EA7-6075-CA05-E936-89623FA980D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3D2478D-C77C-C1B0-9C87-8461271FCC00}"/>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6" name="Footer Placeholder 5">
            <a:extLst>
              <a:ext uri="{FF2B5EF4-FFF2-40B4-BE49-F238E27FC236}">
                <a16:creationId xmlns:a16="http://schemas.microsoft.com/office/drawing/2014/main" id="{57AED148-548F-DDAA-79B2-1F5E48E16D65}"/>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37A2DF6-A3A0-93FE-88EF-6611EF9BED1A}"/>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2313360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68E21-24C4-2DBB-ACF8-DCFD312C1878}"/>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BADCC3FB-F0D7-1E5E-5294-F336ACB554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67A4D3D-D5F0-13B5-F708-6945D6AB561C}"/>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DF992BC1-0D73-D549-22F6-36F66403AEC8}"/>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19D1727-A86E-4D30-1B52-38D55007B710}"/>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2413662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383280-9338-F379-3D0D-333F061CFA9E}"/>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9DFEA1BD-731E-0D77-F271-CD7619F1F5E7}"/>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B819D659-BD81-BD04-62BF-E1890F46997F}"/>
              </a:ext>
            </a:extLst>
          </p:cNvPr>
          <p:cNvSpPr>
            <a:spLocks noGrp="1"/>
          </p:cNvSpPr>
          <p:nvPr>
            <p:ph type="dt" sz="half" idx="10"/>
          </p:nvPr>
        </p:nvSpPr>
        <p:spPr/>
        <p:txBody>
          <a:body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3DE67595-A2AE-9EED-9FB2-0E25E5C5D765}"/>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9B0A7F3-2450-4357-881F-5444B14A874F}"/>
              </a:ext>
            </a:extLst>
          </p:cNvPr>
          <p:cNvSpPr>
            <a:spLocks noGrp="1"/>
          </p:cNvSpPr>
          <p:nvPr>
            <p:ph type="sldNum" sz="quarter" idx="12"/>
          </p:nvPr>
        </p:nvSpPr>
        <p:spPr/>
        <p:txBody>
          <a:bodyPr/>
          <a:lstStyle/>
          <a:p>
            <a:fld id="{16D331F1-A281-40C7-BFD7-47105079BE70}" type="slidenum">
              <a:rPr lang="en-KE" smtClean="0"/>
              <a:t>‹#›</a:t>
            </a:fld>
            <a:endParaRPr lang="en-KE"/>
          </a:p>
        </p:txBody>
      </p:sp>
    </p:spTree>
    <p:extLst>
      <p:ext uri="{BB962C8B-B14F-4D97-AF65-F5344CB8AC3E}">
        <p14:creationId xmlns:p14="http://schemas.microsoft.com/office/powerpoint/2010/main" val="1534274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C8F807-F356-AE55-9480-5A10EB69A26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28A15AD3-FC34-C75D-9DCA-2EBEA2C7F7F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FD918E4-F2F0-24B1-E69F-092AB30776E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B90E297-C911-4D7A-8A37-835E4D93FF38}" type="datetimeFigureOut">
              <a:rPr lang="en-KE" smtClean="0"/>
              <a:t>08/21/2026</a:t>
            </a:fld>
            <a:endParaRPr lang="en-KE"/>
          </a:p>
        </p:txBody>
      </p:sp>
      <p:sp>
        <p:nvSpPr>
          <p:cNvPr id="5" name="Footer Placeholder 4">
            <a:extLst>
              <a:ext uri="{FF2B5EF4-FFF2-40B4-BE49-F238E27FC236}">
                <a16:creationId xmlns:a16="http://schemas.microsoft.com/office/drawing/2014/main" id="{448D2DFE-5726-4D71-9CC6-C54C7B32960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1F8B14BA-5109-6829-215E-198CA5E3888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6D331F1-A281-40C7-BFD7-47105079BE70}" type="slidenum">
              <a:rPr lang="en-KE" smtClean="0"/>
              <a:t>‹#›</a:t>
            </a:fld>
            <a:endParaRPr lang="en-KE"/>
          </a:p>
        </p:txBody>
      </p:sp>
    </p:spTree>
    <p:extLst>
      <p:ext uri="{BB962C8B-B14F-4D97-AF65-F5344CB8AC3E}">
        <p14:creationId xmlns:p14="http://schemas.microsoft.com/office/powerpoint/2010/main" val="829592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K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ACA3EA-5982-A4F9-8834-5AD8F80CA917}"/>
              </a:ext>
            </a:extLst>
          </p:cNvPr>
          <p:cNvSpPr/>
          <p:nvPr/>
        </p:nvSpPr>
        <p:spPr>
          <a:xfrm>
            <a:off x="0" y="0"/>
            <a:ext cx="9144000" cy="51435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17FFE53F-D2F1-3E99-CFA5-880B5225C326}"/>
              </a:ext>
            </a:extLst>
          </p:cNvPr>
          <p:cNvSpPr/>
          <p:nvPr/>
        </p:nvSpPr>
        <p:spPr>
          <a:xfrm>
            <a:off x="0" y="0"/>
            <a:ext cx="254000" cy="5118100"/>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CF75EF1D-4BD2-33B2-DE99-2E7BFC9B0A3D}"/>
              </a:ext>
            </a:extLst>
          </p:cNvPr>
          <p:cNvSpPr txBox="1"/>
          <p:nvPr/>
        </p:nvSpPr>
        <p:spPr>
          <a:xfrm>
            <a:off x="889000" y="863600"/>
            <a:ext cx="5461000" cy="207749"/>
          </a:xfrm>
          <a:prstGeom prst="rect">
            <a:avLst/>
          </a:prstGeom>
          <a:noFill/>
        </p:spPr>
        <p:txBody>
          <a:bodyPr vert="horz" wrap="square" lIns="0" tIns="0" rIns="0" bIns="0" rtlCol="0">
            <a:noAutofit/>
          </a:bodyPr>
          <a:lstStyle/>
          <a:p>
            <a:r>
              <a:rPr lang="en-US" sz="1200" b="1">
                <a:solidFill>
                  <a:srgbClr val="CD5146"/>
                </a:solidFill>
                <a:latin typeface="Aptos" panose="020B0004020202020204" pitchFamily="34" charset="0"/>
              </a:rPr>
              <a:t>MSCS 634 | FINAL PROJECT</a:t>
            </a:r>
            <a:endParaRPr lang="en-KE" sz="1200" b="1">
              <a:solidFill>
                <a:srgbClr val="CD5146"/>
              </a:solidFill>
              <a:latin typeface="Aptos" panose="020B0004020202020204" pitchFamily="34" charset="0"/>
            </a:endParaRPr>
          </a:p>
        </p:txBody>
      </p:sp>
      <p:sp>
        <p:nvSpPr>
          <p:cNvPr id="5" name="TextBox 4">
            <a:extLst>
              <a:ext uri="{FF2B5EF4-FFF2-40B4-BE49-F238E27FC236}">
                <a16:creationId xmlns:a16="http://schemas.microsoft.com/office/drawing/2014/main" id="{B7DE3268-3B7F-ECE5-A607-FAA8B5F90E6F}"/>
              </a:ext>
            </a:extLst>
          </p:cNvPr>
          <p:cNvSpPr txBox="1"/>
          <p:nvPr/>
        </p:nvSpPr>
        <p:spPr>
          <a:xfrm>
            <a:off x="889000" y="1397000"/>
            <a:ext cx="7874000" cy="207749"/>
          </a:xfrm>
          <a:prstGeom prst="rect">
            <a:avLst/>
          </a:prstGeom>
          <a:noFill/>
        </p:spPr>
        <p:txBody>
          <a:bodyPr vert="horz" wrap="square" lIns="0" tIns="0" rIns="0" bIns="0" rtlCol="0">
            <a:noAutofit/>
          </a:bodyPr>
          <a:lstStyle/>
          <a:p>
            <a:r>
              <a:rPr lang="en-US" sz="3800" b="1" dirty="0">
                <a:solidFill>
                  <a:srgbClr val="FFFFFF"/>
                </a:solidFill>
                <a:latin typeface="Aptos" panose="020B0004020202020204" pitchFamily="34" charset="0"/>
              </a:rPr>
              <a:t>Wine Quality Data Mining</a:t>
            </a:r>
            <a:endParaRPr lang="en-KE" sz="3800" b="1" dirty="0">
              <a:solidFill>
                <a:srgbClr val="FFFFFF"/>
              </a:solidFill>
              <a:latin typeface="Aptos" panose="020B0004020202020204" pitchFamily="34" charset="0"/>
            </a:endParaRPr>
          </a:p>
        </p:txBody>
      </p:sp>
      <p:sp>
        <p:nvSpPr>
          <p:cNvPr id="6" name="TextBox 5">
            <a:extLst>
              <a:ext uri="{FF2B5EF4-FFF2-40B4-BE49-F238E27FC236}">
                <a16:creationId xmlns:a16="http://schemas.microsoft.com/office/drawing/2014/main" id="{1CBF588D-A92B-DDFF-E67C-D04A83B0B4CD}"/>
              </a:ext>
            </a:extLst>
          </p:cNvPr>
          <p:cNvSpPr txBox="1"/>
          <p:nvPr/>
        </p:nvSpPr>
        <p:spPr>
          <a:xfrm>
            <a:off x="889000" y="2124975"/>
            <a:ext cx="7620000" cy="207749"/>
          </a:xfrm>
          <a:prstGeom prst="rect">
            <a:avLst/>
          </a:prstGeom>
          <a:noFill/>
        </p:spPr>
        <p:txBody>
          <a:bodyPr vert="horz" wrap="square" lIns="0" tIns="0" rIns="0" bIns="0" rtlCol="0">
            <a:noAutofit/>
          </a:bodyPr>
          <a:lstStyle/>
          <a:p>
            <a:r>
              <a:rPr lang="en-US" sz="2000" dirty="0">
                <a:solidFill>
                  <a:srgbClr val="D2DEE6"/>
                </a:solidFill>
                <a:latin typeface="Aptos" panose="020B0004020202020204" pitchFamily="34" charset="0"/>
              </a:rPr>
              <a:t>From chemical measurements to practical, responsible decision support</a:t>
            </a:r>
          </a:p>
          <a:p>
            <a:pPr algn="r"/>
            <a:r>
              <a:rPr lang="en-US" dirty="0">
                <a:solidFill>
                  <a:schemeClr val="bg1"/>
                </a:solidFill>
              </a:rPr>
              <a:t>Rabi Gurung</a:t>
            </a:r>
          </a:p>
          <a:p>
            <a:pPr algn="r"/>
            <a:r>
              <a:rPr lang="en-US" dirty="0">
                <a:solidFill>
                  <a:schemeClr val="bg1"/>
                </a:solidFill>
              </a:rPr>
              <a:t>University of the Cumberlands</a:t>
            </a:r>
          </a:p>
          <a:p>
            <a:pPr algn="r"/>
            <a:r>
              <a:rPr lang="en-US" dirty="0">
                <a:solidFill>
                  <a:schemeClr val="bg1"/>
                </a:solidFill>
              </a:rPr>
              <a:t>MSCS634 - B01 Advanced Big Data and Data Mining</a:t>
            </a:r>
          </a:p>
          <a:p>
            <a:pPr algn="r"/>
            <a:r>
              <a:rPr lang="en-US" dirty="0">
                <a:solidFill>
                  <a:schemeClr val="bg1"/>
                </a:solidFill>
              </a:rPr>
              <a:t>Dr. Satish </a:t>
            </a:r>
            <a:r>
              <a:rPr lang="en-US" dirty="0" err="1">
                <a:solidFill>
                  <a:schemeClr val="bg1"/>
                </a:solidFill>
              </a:rPr>
              <a:t>Penmatsa</a:t>
            </a:r>
            <a:endParaRPr lang="en-US" dirty="0">
              <a:solidFill>
                <a:schemeClr val="bg1"/>
              </a:solidFill>
            </a:endParaRPr>
          </a:p>
          <a:p>
            <a:pPr algn="r"/>
            <a:r>
              <a:rPr lang="en-US">
                <a:solidFill>
                  <a:schemeClr val="bg1"/>
                </a:solidFill>
              </a:rPr>
              <a:t>Aug 21, </a:t>
            </a:r>
            <a:r>
              <a:rPr lang="en-US" dirty="0">
                <a:solidFill>
                  <a:schemeClr val="bg1"/>
                </a:solidFill>
              </a:rPr>
              <a:t>2026</a:t>
            </a:r>
          </a:p>
          <a:p>
            <a:endParaRPr lang="en-KE" sz="2000" dirty="0">
              <a:solidFill>
                <a:srgbClr val="D2DEE6"/>
              </a:solidFill>
              <a:latin typeface="Aptos" panose="020B0004020202020204" pitchFamily="34" charset="0"/>
            </a:endParaRPr>
          </a:p>
        </p:txBody>
      </p:sp>
      <p:sp>
        <p:nvSpPr>
          <p:cNvPr id="7" name="Rectangle 6">
            <a:extLst>
              <a:ext uri="{FF2B5EF4-FFF2-40B4-BE49-F238E27FC236}">
                <a16:creationId xmlns:a16="http://schemas.microsoft.com/office/drawing/2014/main" id="{731F1905-68B2-BD88-BF40-FF2474A6E902}"/>
              </a:ext>
            </a:extLst>
          </p:cNvPr>
          <p:cNvSpPr/>
          <p:nvPr/>
        </p:nvSpPr>
        <p:spPr>
          <a:xfrm>
            <a:off x="889000" y="3810000"/>
            <a:ext cx="5969000" cy="25400"/>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3CF818E3-7BEE-1FA2-C728-37B13624DE7F}"/>
              </a:ext>
            </a:extLst>
          </p:cNvPr>
          <p:cNvSpPr txBox="1"/>
          <p:nvPr/>
        </p:nvSpPr>
        <p:spPr>
          <a:xfrm>
            <a:off x="889000" y="4127500"/>
            <a:ext cx="8636000" cy="207749"/>
          </a:xfrm>
          <a:prstGeom prst="rect">
            <a:avLst/>
          </a:prstGeom>
          <a:noFill/>
        </p:spPr>
        <p:txBody>
          <a:bodyPr vert="horz" wrap="square" lIns="0" tIns="0" rIns="0" bIns="0" rtlCol="0">
            <a:noAutofit/>
          </a:bodyPr>
          <a:lstStyle/>
          <a:p>
            <a:r>
              <a:rPr lang="en-US" sz="1500" dirty="0">
                <a:solidFill>
                  <a:srgbClr val="FFFFFF"/>
                </a:solidFill>
                <a:latin typeface="Aptos" panose="020B0004020202020204" pitchFamily="34" charset="0"/>
              </a:rPr>
              <a:t>EDA  |  Regression  |  Classification  |  Clustering  |  Pattern Mining</a:t>
            </a:r>
            <a:endParaRPr lang="en-KE" sz="1500" dirty="0">
              <a:solidFill>
                <a:srgbClr val="FFFFFF"/>
              </a:solidFill>
              <a:latin typeface="Aptos" panose="020B0004020202020204" pitchFamily="34" charset="0"/>
            </a:endParaRPr>
          </a:p>
        </p:txBody>
      </p:sp>
      <p:sp>
        <p:nvSpPr>
          <p:cNvPr id="11" name="TextBox 10">
            <a:extLst>
              <a:ext uri="{FF2B5EF4-FFF2-40B4-BE49-F238E27FC236}">
                <a16:creationId xmlns:a16="http://schemas.microsoft.com/office/drawing/2014/main" id="{6DA32796-2681-E143-F3EC-533347CF01E1}"/>
              </a:ext>
            </a:extLst>
          </p:cNvPr>
          <p:cNvSpPr txBox="1"/>
          <p:nvPr/>
        </p:nvSpPr>
        <p:spPr>
          <a:xfrm>
            <a:off x="889000" y="4523474"/>
            <a:ext cx="3810000" cy="207749"/>
          </a:xfrm>
          <a:prstGeom prst="rect">
            <a:avLst/>
          </a:prstGeom>
          <a:noFill/>
        </p:spPr>
        <p:txBody>
          <a:bodyPr vert="horz" wrap="square" lIns="0" tIns="0" rIns="0" bIns="0" rtlCol="0">
            <a:noAutofit/>
          </a:bodyPr>
          <a:lstStyle/>
          <a:p>
            <a:r>
              <a:rPr lang="en-US" sz="1200">
                <a:solidFill>
                  <a:srgbClr val="D2DEE6"/>
                </a:solidFill>
                <a:latin typeface="Aptos" panose="020B0004020202020204" pitchFamily="34" charset="0"/>
              </a:rPr>
              <a:t>UCI Red Wine Quality Dataset</a:t>
            </a:r>
            <a:endParaRPr lang="en-KE" sz="1200">
              <a:solidFill>
                <a:srgbClr val="D2DEE6"/>
              </a:solidFill>
              <a:latin typeface="Aptos" panose="020B0004020202020204" pitchFamily="34" charset="0"/>
            </a:endParaRPr>
          </a:p>
        </p:txBody>
      </p:sp>
    </p:spTree>
    <p:extLst>
      <p:ext uri="{BB962C8B-B14F-4D97-AF65-F5344CB8AC3E}">
        <p14:creationId xmlns:p14="http://schemas.microsoft.com/office/powerpoint/2010/main" val="504531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83CFFC-A781-7B1C-59A9-3706E161B82E}"/>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0A76628D-B05C-D7A8-834B-0FA28FCE7343}"/>
              </a:ext>
            </a:extLst>
          </p:cNvPr>
          <p:cNvSpPr/>
          <p:nvPr/>
        </p:nvSpPr>
        <p:spPr>
          <a:xfrm>
            <a:off x="0" y="736600"/>
            <a:ext cx="9144000" cy="45719"/>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B6204ED1-F5C0-D9CD-41A6-79025404758E}"/>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Dataset and preparation</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AB3CC1B9-FC97-94B8-A408-D792008E45C4}"/>
              </a:ext>
            </a:extLst>
          </p:cNvPr>
          <p:cNvSpPr txBox="1"/>
          <p:nvPr/>
        </p:nvSpPr>
        <p:spPr>
          <a:xfrm>
            <a:off x="8521700" y="243574"/>
            <a:ext cx="533400" cy="207749"/>
          </a:xfrm>
          <a:prstGeom prst="rect">
            <a:avLst/>
          </a:prstGeom>
          <a:noFill/>
        </p:spPr>
        <p:txBody>
          <a:bodyPr vert="horz" wrap="square" lIns="0" tIns="0" rIns="0" bIns="0" rtlCol="0">
            <a:noAutofit/>
          </a:bodyPr>
          <a:lstStyle/>
          <a:p>
            <a:r>
              <a:rPr lang="en-KE" sz="1400" b="1">
                <a:solidFill>
                  <a:srgbClr val="FFFFFF"/>
                </a:solidFill>
                <a:latin typeface="Aptos" panose="020B0004020202020204" pitchFamily="34" charset="0"/>
              </a:rPr>
              <a:t>02</a:t>
            </a:r>
          </a:p>
        </p:txBody>
      </p:sp>
      <p:sp>
        <p:nvSpPr>
          <p:cNvPr id="6" name="TextBox 5">
            <a:extLst>
              <a:ext uri="{FF2B5EF4-FFF2-40B4-BE49-F238E27FC236}">
                <a16:creationId xmlns:a16="http://schemas.microsoft.com/office/drawing/2014/main" id="{24FF6266-FD5B-D110-ADA8-C9A1D1A5FBE1}"/>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Starting with a usable, consistent foundation</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1E4F6818-477A-8A11-6327-060D152D5256}"/>
              </a:ext>
            </a:extLst>
          </p:cNvPr>
          <p:cNvSpPr/>
          <p:nvPr/>
        </p:nvSpPr>
        <p:spPr>
          <a:xfrm>
            <a:off x="0" y="4804227"/>
            <a:ext cx="9144000" cy="326571"/>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489B03FB-0047-B90A-D95B-2323C2F27123}"/>
              </a:ext>
            </a:extLst>
          </p:cNvPr>
          <p:cNvSpPr txBox="1"/>
          <p:nvPr/>
        </p:nvSpPr>
        <p:spPr>
          <a:xfrm>
            <a:off x="736600" y="4927598"/>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F59EEC82-F828-B4BD-4031-090497C6EDC4}"/>
              </a:ext>
            </a:extLst>
          </p:cNvPr>
          <p:cNvSpPr txBox="1"/>
          <p:nvPr/>
        </p:nvSpPr>
        <p:spPr>
          <a:xfrm>
            <a:off x="838200" y="1195617"/>
            <a:ext cx="2540000" cy="207749"/>
          </a:xfrm>
          <a:prstGeom prst="rect">
            <a:avLst/>
          </a:prstGeom>
          <a:noFill/>
        </p:spPr>
        <p:txBody>
          <a:bodyPr vert="horz" wrap="square" lIns="0" tIns="0" rIns="0" bIns="0" rtlCol="0">
            <a:noAutofit/>
          </a:bodyPr>
          <a:lstStyle/>
          <a:p>
            <a:r>
              <a:rPr lang="en-KE" sz="4200" b="1">
                <a:solidFill>
                  <a:srgbClr val="CD5146"/>
                </a:solidFill>
                <a:latin typeface="Aptos" panose="020B0004020202020204" pitchFamily="34" charset="0"/>
              </a:rPr>
              <a:t>1,599</a:t>
            </a:r>
          </a:p>
        </p:txBody>
      </p:sp>
      <p:sp>
        <p:nvSpPr>
          <p:cNvPr id="10" name="TextBox 9">
            <a:extLst>
              <a:ext uri="{FF2B5EF4-FFF2-40B4-BE49-F238E27FC236}">
                <a16:creationId xmlns:a16="http://schemas.microsoft.com/office/drawing/2014/main" id="{ABA4593E-069A-D82C-9095-38F6800C3F3C}"/>
              </a:ext>
            </a:extLst>
          </p:cNvPr>
          <p:cNvSpPr txBox="1"/>
          <p:nvPr/>
        </p:nvSpPr>
        <p:spPr>
          <a:xfrm>
            <a:off x="863600" y="1906817"/>
            <a:ext cx="2413000" cy="207749"/>
          </a:xfrm>
          <a:prstGeom prst="rect">
            <a:avLst/>
          </a:prstGeom>
          <a:noFill/>
        </p:spPr>
        <p:txBody>
          <a:bodyPr vert="horz" wrap="square" lIns="0" tIns="0" rIns="0" bIns="0" rtlCol="0">
            <a:noAutofit/>
          </a:bodyPr>
          <a:lstStyle/>
          <a:p>
            <a:r>
              <a:rPr lang="en-US" sz="1300">
                <a:solidFill>
                  <a:srgbClr val="5B6973"/>
                </a:solidFill>
                <a:latin typeface="Aptos" panose="020B0004020202020204" pitchFamily="34" charset="0"/>
              </a:rPr>
              <a:t>raw red-wine records</a:t>
            </a:r>
            <a:endParaRPr lang="en-KE" sz="1300">
              <a:solidFill>
                <a:srgbClr val="5B6973"/>
              </a:solidFill>
              <a:latin typeface="Aptos" panose="020B0004020202020204" pitchFamily="34" charset="0"/>
            </a:endParaRPr>
          </a:p>
        </p:txBody>
      </p:sp>
      <p:sp>
        <p:nvSpPr>
          <p:cNvPr id="11" name="Rectangle 10">
            <a:extLst>
              <a:ext uri="{FF2B5EF4-FFF2-40B4-BE49-F238E27FC236}">
                <a16:creationId xmlns:a16="http://schemas.microsoft.com/office/drawing/2014/main" id="{16C87637-A504-B680-916C-EF73EBE49FDD}"/>
              </a:ext>
            </a:extLst>
          </p:cNvPr>
          <p:cNvSpPr/>
          <p:nvPr/>
        </p:nvSpPr>
        <p:spPr>
          <a:xfrm>
            <a:off x="3683000" y="889003"/>
            <a:ext cx="25400" cy="3810000"/>
          </a:xfrm>
          <a:prstGeom prst="rect">
            <a:avLst/>
          </a:prstGeom>
          <a:solidFill>
            <a:srgbClr val="DAE2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12" name="TextBox 11">
            <a:extLst>
              <a:ext uri="{FF2B5EF4-FFF2-40B4-BE49-F238E27FC236}">
                <a16:creationId xmlns:a16="http://schemas.microsoft.com/office/drawing/2014/main" id="{3F0BCA1E-51A0-16F3-9D7E-DAAC5FF32B41}"/>
              </a:ext>
            </a:extLst>
          </p:cNvPr>
          <p:cNvSpPr txBox="1"/>
          <p:nvPr/>
        </p:nvSpPr>
        <p:spPr>
          <a:xfrm>
            <a:off x="4318000" y="1284517"/>
            <a:ext cx="4737100" cy="830997"/>
          </a:xfrm>
          <a:prstGeom prst="rect">
            <a:avLst/>
          </a:prstGeom>
          <a:noFill/>
        </p:spPr>
        <p:txBody>
          <a:bodyPr vert="horz" wrap="square" lIns="0" tIns="0" rIns="0" bIns="0" rtlCol="0">
            <a:noAutofit/>
          </a:bodyPr>
          <a:lstStyle/>
          <a:p>
            <a:pPr>
              <a:spcAft>
                <a:spcPts val="1000"/>
              </a:spcAft>
            </a:pPr>
            <a:r>
              <a:rPr lang="en-US" sz="2000" dirty="0">
                <a:solidFill>
                  <a:srgbClr val="1F2B33"/>
                </a:solidFill>
                <a:latin typeface="Aptos" panose="020B0004020202020204" pitchFamily="34" charset="0"/>
              </a:rPr>
              <a:t>- Chemical measurements plus a quality score</a:t>
            </a:r>
          </a:p>
          <a:p>
            <a:pPr>
              <a:spcAft>
                <a:spcPts val="1000"/>
              </a:spcAft>
            </a:pPr>
            <a:r>
              <a:rPr lang="en-US" sz="2000" dirty="0">
                <a:solidFill>
                  <a:srgbClr val="1F2B33"/>
                </a:solidFill>
                <a:latin typeface="Aptos" panose="020B0004020202020204" pitchFamily="34" charset="0"/>
              </a:rPr>
              <a:t>- Removed duplicates and reviewed noisy outliers</a:t>
            </a:r>
          </a:p>
          <a:p>
            <a:pPr>
              <a:spcAft>
                <a:spcPts val="1000"/>
              </a:spcAft>
            </a:pPr>
            <a:r>
              <a:rPr lang="en-US" sz="2000" dirty="0">
                <a:solidFill>
                  <a:srgbClr val="1F2B33"/>
                </a:solidFill>
                <a:latin typeface="Aptos" panose="020B0004020202020204" pitchFamily="34" charset="0"/>
              </a:rPr>
              <a:t>- Used the cleaned dataset consistently across deliverables</a:t>
            </a:r>
          </a:p>
          <a:p>
            <a:pPr>
              <a:spcAft>
                <a:spcPts val="1000"/>
              </a:spcAft>
            </a:pPr>
            <a:r>
              <a:rPr lang="en-US" sz="2000" dirty="0">
                <a:solidFill>
                  <a:srgbClr val="1F2B33"/>
                </a:solidFill>
                <a:latin typeface="Aptos" panose="020B0004020202020204" pitchFamily="34" charset="0"/>
              </a:rPr>
              <a:t>- Kept the workflow reproducible from preparation to modeling</a:t>
            </a:r>
            <a:endParaRPr lang="en-KE" sz="2000" dirty="0">
              <a:solidFill>
                <a:srgbClr val="1F2B33"/>
              </a:solidFill>
              <a:latin typeface="Aptos" panose="020B0004020202020204" pitchFamily="34" charset="0"/>
            </a:endParaRPr>
          </a:p>
        </p:txBody>
      </p:sp>
      <p:sp>
        <p:nvSpPr>
          <p:cNvPr id="13" name="TextBox 12">
            <a:extLst>
              <a:ext uri="{FF2B5EF4-FFF2-40B4-BE49-F238E27FC236}">
                <a16:creationId xmlns:a16="http://schemas.microsoft.com/office/drawing/2014/main" id="{8082AAF3-5F8F-4076-935A-D58FF6516B50}"/>
              </a:ext>
            </a:extLst>
          </p:cNvPr>
          <p:cNvSpPr txBox="1"/>
          <p:nvPr/>
        </p:nvSpPr>
        <p:spPr>
          <a:xfrm>
            <a:off x="838200" y="3227617"/>
            <a:ext cx="2286000" cy="207749"/>
          </a:xfrm>
          <a:prstGeom prst="rect">
            <a:avLst/>
          </a:prstGeom>
          <a:noFill/>
        </p:spPr>
        <p:txBody>
          <a:bodyPr vert="horz" wrap="square" lIns="0" tIns="0" rIns="0" bIns="0" rtlCol="0">
            <a:noAutofit/>
          </a:bodyPr>
          <a:lstStyle/>
          <a:p>
            <a:r>
              <a:rPr lang="en-US" sz="1500" b="1" dirty="0">
                <a:solidFill>
                  <a:srgbClr val="226991"/>
                </a:solidFill>
                <a:latin typeface="Aptos" panose="020B0004020202020204" pitchFamily="34" charset="0"/>
              </a:rPr>
              <a:t>Why it matters</a:t>
            </a:r>
            <a:endParaRPr lang="en-KE" sz="1500" b="1" dirty="0">
              <a:solidFill>
                <a:srgbClr val="226991"/>
              </a:solidFill>
              <a:latin typeface="Aptos" panose="020B0004020202020204" pitchFamily="34" charset="0"/>
            </a:endParaRPr>
          </a:p>
        </p:txBody>
      </p:sp>
      <p:sp>
        <p:nvSpPr>
          <p:cNvPr id="14" name="TextBox 13">
            <a:extLst>
              <a:ext uri="{FF2B5EF4-FFF2-40B4-BE49-F238E27FC236}">
                <a16:creationId xmlns:a16="http://schemas.microsoft.com/office/drawing/2014/main" id="{6EF6DACC-CA6E-1BE2-A5F0-1364483ED689}"/>
              </a:ext>
            </a:extLst>
          </p:cNvPr>
          <p:cNvSpPr txBox="1"/>
          <p:nvPr/>
        </p:nvSpPr>
        <p:spPr>
          <a:xfrm>
            <a:off x="838200" y="3646717"/>
            <a:ext cx="2413000" cy="623248"/>
          </a:xfrm>
          <a:prstGeom prst="rect">
            <a:avLst/>
          </a:prstGeom>
          <a:noFill/>
        </p:spPr>
        <p:txBody>
          <a:bodyPr vert="horz" wrap="square" lIns="0" tIns="0" rIns="0" bIns="0" rtlCol="0">
            <a:noAutofit/>
          </a:bodyPr>
          <a:lstStyle/>
          <a:p>
            <a:r>
              <a:rPr lang="en-US" sz="1600" dirty="0">
                <a:solidFill>
                  <a:srgbClr val="1F2B33"/>
                </a:solidFill>
                <a:latin typeface="Aptos" panose="020B0004020202020204" pitchFamily="34" charset="0"/>
              </a:rPr>
              <a:t>Careful preparation reduces noise before the models learn from the data.</a:t>
            </a:r>
            <a:endParaRPr lang="en-KE" sz="1600" dirty="0">
              <a:solidFill>
                <a:srgbClr val="1F2B33"/>
              </a:solidFill>
              <a:latin typeface="Aptos" panose="020B0004020202020204" pitchFamily="34" charset="0"/>
            </a:endParaRPr>
          </a:p>
        </p:txBody>
      </p:sp>
    </p:spTree>
    <p:extLst>
      <p:ext uri="{BB962C8B-B14F-4D97-AF65-F5344CB8AC3E}">
        <p14:creationId xmlns:p14="http://schemas.microsoft.com/office/powerpoint/2010/main" val="3621288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12DFF1-D02C-8EA7-7E87-2B3A8AE74527}"/>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5730FB04-3025-2B74-F5EC-47BB7851C1FB}"/>
              </a:ext>
            </a:extLst>
          </p:cNvPr>
          <p:cNvSpPr/>
          <p:nvPr/>
        </p:nvSpPr>
        <p:spPr>
          <a:xfrm>
            <a:off x="0" y="736600"/>
            <a:ext cx="9144000" cy="45719"/>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6C7FE9C7-53B7-F3F0-82EF-AFDC020934D2}"/>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Exploratory insights</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87FD7D46-8CD0-3ECD-ABD1-159F51CB64D1}"/>
              </a:ext>
            </a:extLst>
          </p:cNvPr>
          <p:cNvSpPr txBox="1"/>
          <p:nvPr/>
        </p:nvSpPr>
        <p:spPr>
          <a:xfrm>
            <a:off x="8407400" y="289826"/>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03</a:t>
            </a:r>
          </a:p>
        </p:txBody>
      </p:sp>
      <p:sp>
        <p:nvSpPr>
          <p:cNvPr id="6" name="TextBox 5">
            <a:extLst>
              <a:ext uri="{FF2B5EF4-FFF2-40B4-BE49-F238E27FC236}">
                <a16:creationId xmlns:a16="http://schemas.microsoft.com/office/drawing/2014/main" id="{7AD1854D-B5E6-C159-4787-B5396EB0151B}"/>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The data already points to the strongest quality signals</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46391149-706B-5F21-FCB5-17FE4E5B7BFC}"/>
              </a:ext>
            </a:extLst>
          </p:cNvPr>
          <p:cNvSpPr/>
          <p:nvPr/>
        </p:nvSpPr>
        <p:spPr>
          <a:xfrm>
            <a:off x="0" y="4789716"/>
            <a:ext cx="9144000" cy="326571"/>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2456C3E9-E506-E95D-EE00-EE70058177CE}"/>
              </a:ext>
            </a:extLst>
          </p:cNvPr>
          <p:cNvSpPr txBox="1"/>
          <p:nvPr/>
        </p:nvSpPr>
        <p:spPr>
          <a:xfrm>
            <a:off x="736600" y="4913087"/>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2450455C-8F05-0B03-691B-E185168CDA47}"/>
              </a:ext>
            </a:extLst>
          </p:cNvPr>
          <p:cNvSpPr txBox="1"/>
          <p:nvPr/>
        </p:nvSpPr>
        <p:spPr>
          <a:xfrm>
            <a:off x="736600" y="1587500"/>
            <a:ext cx="3835400" cy="830997"/>
          </a:xfrm>
          <a:prstGeom prst="rect">
            <a:avLst/>
          </a:prstGeom>
          <a:noFill/>
        </p:spPr>
        <p:txBody>
          <a:bodyPr vert="horz" wrap="square" lIns="0" tIns="0" rIns="0" bIns="0" rtlCol="0">
            <a:noAutofit/>
          </a:bodyPr>
          <a:lstStyle/>
          <a:p>
            <a:pPr>
              <a:spcAft>
                <a:spcPts val="1000"/>
              </a:spcAft>
            </a:pPr>
            <a:r>
              <a:rPr lang="en-US" sz="1800" dirty="0">
                <a:solidFill>
                  <a:srgbClr val="1F2B33"/>
                </a:solidFill>
                <a:latin typeface="Aptos" panose="020B0004020202020204" pitchFamily="34" charset="0"/>
              </a:rPr>
              <a:t>- Most quality scores are concentrated around 5 and 6</a:t>
            </a:r>
          </a:p>
          <a:p>
            <a:pPr>
              <a:spcAft>
                <a:spcPts val="1000"/>
              </a:spcAft>
            </a:pPr>
            <a:r>
              <a:rPr lang="en-US" sz="1800" dirty="0">
                <a:solidFill>
                  <a:srgbClr val="1F2B33"/>
                </a:solidFill>
                <a:latin typeface="Aptos" panose="020B0004020202020204" pitchFamily="34" charset="0"/>
              </a:rPr>
              <a:t>- Alcohol has a positive relationship with quality</a:t>
            </a:r>
          </a:p>
          <a:p>
            <a:pPr>
              <a:spcAft>
                <a:spcPts val="1000"/>
              </a:spcAft>
            </a:pPr>
            <a:r>
              <a:rPr lang="en-US" sz="1800" dirty="0">
                <a:solidFill>
                  <a:srgbClr val="1F2B33"/>
                </a:solidFill>
                <a:latin typeface="Aptos" panose="020B0004020202020204" pitchFamily="34" charset="0"/>
              </a:rPr>
              <a:t>- Volatile acidity has a negative relationship with quality</a:t>
            </a:r>
          </a:p>
          <a:p>
            <a:pPr>
              <a:spcAft>
                <a:spcPts val="1000"/>
              </a:spcAft>
            </a:pPr>
            <a:r>
              <a:rPr lang="en-US" sz="1800" dirty="0">
                <a:solidFill>
                  <a:srgbClr val="1F2B33"/>
                </a:solidFill>
                <a:latin typeface="Aptos" panose="020B0004020202020204" pitchFamily="34" charset="0"/>
              </a:rPr>
              <a:t>- Outliers are important in several chemistry variables</a:t>
            </a:r>
            <a:endParaRPr lang="en-KE" sz="1800" dirty="0">
              <a:solidFill>
                <a:srgbClr val="1F2B33"/>
              </a:solidFill>
              <a:latin typeface="Aptos" panose="020B0004020202020204" pitchFamily="34" charset="0"/>
            </a:endParaRPr>
          </a:p>
        </p:txBody>
      </p:sp>
      <p:pic>
        <p:nvPicPr>
          <p:cNvPr id="11" name="Picture 10">
            <a:extLst>
              <a:ext uri="{FF2B5EF4-FFF2-40B4-BE49-F238E27FC236}">
                <a16:creationId xmlns:a16="http://schemas.microsoft.com/office/drawing/2014/main" id="{8EC76EBC-515D-EBF5-7989-519EE6A5B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6585" y="1437374"/>
            <a:ext cx="4045576" cy="2889697"/>
          </a:xfrm>
          <a:prstGeom prst="rect">
            <a:avLst/>
          </a:prstGeom>
        </p:spPr>
      </p:pic>
      <p:sp>
        <p:nvSpPr>
          <p:cNvPr id="12" name="TextBox 11">
            <a:extLst>
              <a:ext uri="{FF2B5EF4-FFF2-40B4-BE49-F238E27FC236}">
                <a16:creationId xmlns:a16="http://schemas.microsoft.com/office/drawing/2014/main" id="{CB86EF19-6052-5F17-E912-ECDFE547DC3B}"/>
              </a:ext>
            </a:extLst>
          </p:cNvPr>
          <p:cNvSpPr txBox="1"/>
          <p:nvPr/>
        </p:nvSpPr>
        <p:spPr>
          <a:xfrm>
            <a:off x="5535386" y="4353772"/>
            <a:ext cx="3486775" cy="325272"/>
          </a:xfrm>
          <a:prstGeom prst="rect">
            <a:avLst/>
          </a:prstGeom>
          <a:noFill/>
        </p:spPr>
        <p:txBody>
          <a:bodyPr vert="horz" wrap="square" lIns="0" tIns="0" rIns="0" bIns="0" rtlCol="0">
            <a:noAutofit/>
          </a:bodyPr>
          <a:lstStyle/>
          <a:p>
            <a:r>
              <a:rPr lang="en-US" sz="1100" dirty="0">
                <a:solidFill>
                  <a:srgbClr val="5B6973"/>
                </a:solidFill>
                <a:latin typeface="Aptos" panose="020B0004020202020204" pitchFamily="34" charset="0"/>
              </a:rPr>
              <a:t>Quality distribution from the project dataset</a:t>
            </a:r>
            <a:endParaRPr lang="en-KE" sz="1100" dirty="0">
              <a:solidFill>
                <a:srgbClr val="5B6973"/>
              </a:solidFill>
              <a:latin typeface="Aptos" panose="020B0004020202020204" pitchFamily="34" charset="0"/>
            </a:endParaRPr>
          </a:p>
        </p:txBody>
      </p:sp>
    </p:spTree>
    <p:extLst>
      <p:ext uri="{BB962C8B-B14F-4D97-AF65-F5344CB8AC3E}">
        <p14:creationId xmlns:p14="http://schemas.microsoft.com/office/powerpoint/2010/main" val="1765113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8C6F0-2BB2-D188-6B7A-435E2C4222FA}"/>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882FA509-F72C-80BD-1D5B-A8E8C8522CAB}"/>
              </a:ext>
            </a:extLst>
          </p:cNvPr>
          <p:cNvSpPr/>
          <p:nvPr/>
        </p:nvSpPr>
        <p:spPr>
          <a:xfrm>
            <a:off x="0" y="736600"/>
            <a:ext cx="9144000" cy="45719"/>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6E438EFF-3EFD-8FE7-3C93-1A6655E06A89}"/>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Regression findings</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729CCFAA-A9B7-8090-811C-E0618DF6AA16}"/>
              </a:ext>
            </a:extLst>
          </p:cNvPr>
          <p:cNvSpPr txBox="1"/>
          <p:nvPr/>
        </p:nvSpPr>
        <p:spPr>
          <a:xfrm>
            <a:off x="8407400" y="313425"/>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04</a:t>
            </a:r>
          </a:p>
        </p:txBody>
      </p:sp>
      <p:sp>
        <p:nvSpPr>
          <p:cNvPr id="6" name="TextBox 5">
            <a:extLst>
              <a:ext uri="{FF2B5EF4-FFF2-40B4-BE49-F238E27FC236}">
                <a16:creationId xmlns:a16="http://schemas.microsoft.com/office/drawing/2014/main" id="{9680D263-FDB4-B6FC-6A1A-3C69A906152E}"/>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Predicting the numeric quality score</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FBE0CBEE-609C-3693-2D19-7D3672017ADC}"/>
              </a:ext>
            </a:extLst>
          </p:cNvPr>
          <p:cNvSpPr/>
          <p:nvPr/>
        </p:nvSpPr>
        <p:spPr>
          <a:xfrm>
            <a:off x="0" y="4837607"/>
            <a:ext cx="9144000" cy="293191"/>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1CDA359D-155C-D36B-4701-FE0762EDADD2}"/>
              </a:ext>
            </a:extLst>
          </p:cNvPr>
          <p:cNvSpPr txBox="1"/>
          <p:nvPr/>
        </p:nvSpPr>
        <p:spPr>
          <a:xfrm>
            <a:off x="736600" y="4927598"/>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2FBBFE0D-C778-7A17-97D9-0BBB38B14593}"/>
              </a:ext>
            </a:extLst>
          </p:cNvPr>
          <p:cNvSpPr txBox="1"/>
          <p:nvPr/>
        </p:nvSpPr>
        <p:spPr>
          <a:xfrm>
            <a:off x="736600" y="1587500"/>
            <a:ext cx="3835400" cy="830997"/>
          </a:xfrm>
          <a:prstGeom prst="rect">
            <a:avLst/>
          </a:prstGeom>
          <a:noFill/>
        </p:spPr>
        <p:txBody>
          <a:bodyPr vert="horz" wrap="square" lIns="0" tIns="0" rIns="0" bIns="0" rtlCol="0">
            <a:noAutofit/>
          </a:bodyPr>
          <a:lstStyle/>
          <a:p>
            <a:pPr>
              <a:spcAft>
                <a:spcPts val="1000"/>
              </a:spcAft>
            </a:pPr>
            <a:r>
              <a:rPr lang="en-US" sz="1800" dirty="0">
                <a:solidFill>
                  <a:srgbClr val="1F2B33"/>
                </a:solidFill>
                <a:latin typeface="Aptos" panose="020B0004020202020204" pitchFamily="34" charset="0"/>
              </a:rPr>
              <a:t>- Tested Multiple Linear Regression and Ridge Regression</a:t>
            </a:r>
          </a:p>
          <a:p>
            <a:pPr>
              <a:spcAft>
                <a:spcPts val="1000"/>
              </a:spcAft>
            </a:pPr>
            <a:r>
              <a:rPr lang="en-US" sz="1800" dirty="0">
                <a:solidFill>
                  <a:srgbClr val="1F2B33"/>
                </a:solidFill>
                <a:latin typeface="Aptos" panose="020B0004020202020204" pitchFamily="34" charset="0"/>
              </a:rPr>
              <a:t>- Evaluated R-squared, MSE, RMSE, and cross-validation</a:t>
            </a:r>
          </a:p>
          <a:p>
            <a:pPr>
              <a:spcAft>
                <a:spcPts val="1000"/>
              </a:spcAft>
            </a:pPr>
            <a:r>
              <a:rPr lang="en-US" sz="1800" dirty="0">
                <a:solidFill>
                  <a:srgbClr val="1F2B33"/>
                </a:solidFill>
                <a:latin typeface="Aptos" panose="020B0004020202020204" pitchFamily="34" charset="0"/>
              </a:rPr>
              <a:t>- Prediction was useful but modest</a:t>
            </a:r>
          </a:p>
          <a:p>
            <a:pPr>
              <a:spcAft>
                <a:spcPts val="1000"/>
              </a:spcAft>
            </a:pPr>
            <a:r>
              <a:rPr lang="en-US" sz="1800" dirty="0">
                <a:solidFill>
                  <a:srgbClr val="1F2B33"/>
                </a:solidFill>
                <a:latin typeface="Aptos" panose="020B0004020202020204" pitchFamily="34" charset="0"/>
              </a:rPr>
              <a:t>- Ridge offered a more stable option for this dataset</a:t>
            </a:r>
            <a:endParaRPr lang="en-KE" sz="1800" dirty="0">
              <a:solidFill>
                <a:srgbClr val="1F2B33"/>
              </a:solidFill>
              <a:latin typeface="Aptos" panose="020B0004020202020204" pitchFamily="34" charset="0"/>
            </a:endParaRPr>
          </a:p>
        </p:txBody>
      </p:sp>
      <p:pic>
        <p:nvPicPr>
          <p:cNvPr id="11" name="Picture 10">
            <a:extLst>
              <a:ext uri="{FF2B5EF4-FFF2-40B4-BE49-F238E27FC236}">
                <a16:creationId xmlns:a16="http://schemas.microsoft.com/office/drawing/2014/main" id="{325CEDBA-806E-6131-F799-D7F021FF0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100" y="993989"/>
            <a:ext cx="4478019" cy="2798762"/>
          </a:xfrm>
          <a:prstGeom prst="rect">
            <a:avLst/>
          </a:prstGeom>
        </p:spPr>
      </p:pic>
      <p:sp>
        <p:nvSpPr>
          <p:cNvPr id="12" name="TextBox 11">
            <a:extLst>
              <a:ext uri="{FF2B5EF4-FFF2-40B4-BE49-F238E27FC236}">
                <a16:creationId xmlns:a16="http://schemas.microsoft.com/office/drawing/2014/main" id="{22169B12-4756-BB38-0857-72AC95C58CCF}"/>
              </a:ext>
            </a:extLst>
          </p:cNvPr>
          <p:cNvSpPr txBox="1"/>
          <p:nvPr/>
        </p:nvSpPr>
        <p:spPr>
          <a:xfrm>
            <a:off x="5651500" y="3832697"/>
            <a:ext cx="3436619" cy="254000"/>
          </a:xfrm>
          <a:prstGeom prst="rect">
            <a:avLst/>
          </a:prstGeom>
          <a:noFill/>
        </p:spPr>
        <p:txBody>
          <a:bodyPr vert="horz" wrap="square" lIns="0" tIns="0" rIns="0" bIns="0" rtlCol="0">
            <a:noAutofit/>
          </a:bodyPr>
          <a:lstStyle/>
          <a:p>
            <a:r>
              <a:rPr lang="en-US" sz="1100" dirty="0">
                <a:solidFill>
                  <a:srgbClr val="5B6973"/>
                </a:solidFill>
                <a:latin typeface="Aptos" panose="020B0004020202020204" pitchFamily="34" charset="0"/>
              </a:rPr>
              <a:t>Feature relationships supporting model interpretation</a:t>
            </a:r>
            <a:endParaRPr lang="en-KE" sz="1100" dirty="0">
              <a:solidFill>
                <a:srgbClr val="5B6973"/>
              </a:solidFill>
              <a:latin typeface="Aptos" panose="020B0004020202020204" pitchFamily="34" charset="0"/>
            </a:endParaRPr>
          </a:p>
        </p:txBody>
      </p:sp>
    </p:spTree>
    <p:extLst>
      <p:ext uri="{BB962C8B-B14F-4D97-AF65-F5344CB8AC3E}">
        <p14:creationId xmlns:p14="http://schemas.microsoft.com/office/powerpoint/2010/main" val="2373828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C4DD65-1405-7F13-356F-9D292F76DDC4}"/>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918F015A-3DB0-0AC9-38B4-D21C69F7BB1F}"/>
              </a:ext>
            </a:extLst>
          </p:cNvPr>
          <p:cNvSpPr/>
          <p:nvPr/>
        </p:nvSpPr>
        <p:spPr>
          <a:xfrm>
            <a:off x="0" y="736599"/>
            <a:ext cx="9144000" cy="99325"/>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4FFA36CE-C39D-EBEB-CBEA-A6797A2476A7}"/>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Classification findings</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D4C82EF9-2F6F-3789-EADE-DBE955324E35}"/>
              </a:ext>
            </a:extLst>
          </p:cNvPr>
          <p:cNvSpPr txBox="1"/>
          <p:nvPr/>
        </p:nvSpPr>
        <p:spPr>
          <a:xfrm>
            <a:off x="8140700" y="239025"/>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05</a:t>
            </a:r>
          </a:p>
        </p:txBody>
      </p:sp>
      <p:sp>
        <p:nvSpPr>
          <p:cNvPr id="6" name="TextBox 5">
            <a:extLst>
              <a:ext uri="{FF2B5EF4-FFF2-40B4-BE49-F238E27FC236}">
                <a16:creationId xmlns:a16="http://schemas.microsoft.com/office/drawing/2014/main" id="{3BCEE883-1864-770F-1DE3-DFB40FBB065A}"/>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Turning quality into a practical screening decision</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F08046B8-3C85-D327-E4CD-4AFC5C9D38EE}"/>
              </a:ext>
            </a:extLst>
          </p:cNvPr>
          <p:cNvSpPr/>
          <p:nvPr/>
        </p:nvSpPr>
        <p:spPr>
          <a:xfrm>
            <a:off x="0" y="4775200"/>
            <a:ext cx="9144000" cy="355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B75810DF-BF53-3CE8-AD15-3E4D4EA89430}"/>
              </a:ext>
            </a:extLst>
          </p:cNvPr>
          <p:cNvSpPr txBox="1"/>
          <p:nvPr/>
        </p:nvSpPr>
        <p:spPr>
          <a:xfrm>
            <a:off x="736600" y="4927600"/>
            <a:ext cx="6350000" cy="207749"/>
          </a:xfrm>
          <a:prstGeom prst="rect">
            <a:avLst/>
          </a:prstGeom>
          <a:noFill/>
        </p:spPr>
        <p:txBody>
          <a:bodyPr vert="horz" wrap="square" lIns="0" tIns="0" rIns="0" bIns="0" rtlCol="0">
            <a:noAutofit/>
          </a:bodyPr>
          <a:lstStyle/>
          <a:p>
            <a:r>
              <a:rPr lang="en-US" sz="800" dirty="0">
                <a:solidFill>
                  <a:srgbClr val="FFFFFF"/>
                </a:solidFill>
                <a:latin typeface="Aptos" panose="020B0004020202020204" pitchFamily="34" charset="0"/>
              </a:rPr>
              <a:t>MSCS 634 | Wine Quality Data Mining</a:t>
            </a:r>
            <a:endParaRPr lang="en-KE" sz="800" dirty="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E56430E9-D17D-50C7-21CB-8A215BD38765}"/>
              </a:ext>
            </a:extLst>
          </p:cNvPr>
          <p:cNvSpPr txBox="1"/>
          <p:nvPr/>
        </p:nvSpPr>
        <p:spPr>
          <a:xfrm>
            <a:off x="736600" y="1587500"/>
            <a:ext cx="4445000" cy="830997"/>
          </a:xfrm>
          <a:prstGeom prst="rect">
            <a:avLst/>
          </a:prstGeom>
          <a:noFill/>
        </p:spPr>
        <p:txBody>
          <a:bodyPr vert="horz" wrap="square" lIns="0" tIns="0" rIns="0" bIns="0" rtlCol="0">
            <a:noAutofit/>
          </a:bodyPr>
          <a:lstStyle/>
          <a:p>
            <a:pPr>
              <a:spcAft>
                <a:spcPts val="1000"/>
              </a:spcAft>
            </a:pPr>
            <a:r>
              <a:rPr lang="en-US" sz="1800">
                <a:solidFill>
                  <a:srgbClr val="1F2B33"/>
                </a:solidFill>
                <a:latin typeface="Aptos" panose="020B0004020202020204" pitchFamily="34" charset="0"/>
              </a:rPr>
              <a:t>- Converted quality into a higher-versus-lower class</a:t>
            </a:r>
          </a:p>
          <a:p>
            <a:pPr>
              <a:spcAft>
                <a:spcPts val="1000"/>
              </a:spcAft>
            </a:pPr>
            <a:r>
              <a:rPr lang="en-US" sz="1800">
                <a:solidFill>
                  <a:srgbClr val="1F2B33"/>
                </a:solidFill>
                <a:latin typeface="Aptos" panose="020B0004020202020204" pitchFamily="34" charset="0"/>
              </a:rPr>
              <a:t>- Compared Decision Tree and k-Nearest Neighbors</a:t>
            </a:r>
          </a:p>
          <a:p>
            <a:pPr>
              <a:spcAft>
                <a:spcPts val="1000"/>
              </a:spcAft>
            </a:pPr>
            <a:r>
              <a:rPr lang="en-US" sz="1800">
                <a:solidFill>
                  <a:srgbClr val="1F2B33"/>
                </a:solidFill>
                <a:latin typeface="Aptos" panose="020B0004020202020204" pitchFamily="34" charset="0"/>
              </a:rPr>
              <a:t>- Tuned k-NN with GridSearchCV</a:t>
            </a:r>
          </a:p>
          <a:p>
            <a:pPr>
              <a:spcAft>
                <a:spcPts val="1000"/>
              </a:spcAft>
            </a:pPr>
            <a:r>
              <a:rPr lang="en-US" sz="1800">
                <a:solidFill>
                  <a:srgbClr val="1F2B33"/>
                </a:solidFill>
                <a:latin typeface="Aptos" panose="020B0004020202020204" pitchFamily="34" charset="0"/>
              </a:rPr>
              <a:t>- Accuracy and F1 show potential for early screening</a:t>
            </a:r>
            <a:endParaRPr lang="en-KE" sz="1800">
              <a:solidFill>
                <a:srgbClr val="1F2B33"/>
              </a:solidFill>
              <a:latin typeface="Aptos" panose="020B0004020202020204" pitchFamily="34" charset="0"/>
            </a:endParaRPr>
          </a:p>
        </p:txBody>
      </p:sp>
      <p:pic>
        <p:nvPicPr>
          <p:cNvPr id="11" name="Picture 10">
            <a:extLst>
              <a:ext uri="{FF2B5EF4-FFF2-40B4-BE49-F238E27FC236}">
                <a16:creationId xmlns:a16="http://schemas.microsoft.com/office/drawing/2014/main" id="{FF7D04CD-E926-F930-0233-419A23F7F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4317" y="1320800"/>
            <a:ext cx="4125383" cy="3094037"/>
          </a:xfrm>
          <a:prstGeom prst="rect">
            <a:avLst/>
          </a:prstGeom>
        </p:spPr>
      </p:pic>
      <p:sp>
        <p:nvSpPr>
          <p:cNvPr id="12" name="TextBox 11">
            <a:extLst>
              <a:ext uri="{FF2B5EF4-FFF2-40B4-BE49-F238E27FC236}">
                <a16:creationId xmlns:a16="http://schemas.microsoft.com/office/drawing/2014/main" id="{8F69D815-9448-991E-21E5-E130A9D7E197}"/>
              </a:ext>
            </a:extLst>
          </p:cNvPr>
          <p:cNvSpPr txBox="1"/>
          <p:nvPr/>
        </p:nvSpPr>
        <p:spPr>
          <a:xfrm>
            <a:off x="5905500" y="4521200"/>
            <a:ext cx="3035300" cy="207749"/>
          </a:xfrm>
          <a:prstGeom prst="rect">
            <a:avLst/>
          </a:prstGeom>
          <a:noFill/>
        </p:spPr>
        <p:txBody>
          <a:bodyPr vert="horz" wrap="square" lIns="0" tIns="0" rIns="0" bIns="0" rtlCol="0">
            <a:noAutofit/>
          </a:bodyPr>
          <a:lstStyle/>
          <a:p>
            <a:r>
              <a:rPr lang="en-US" sz="1100" dirty="0">
                <a:solidFill>
                  <a:srgbClr val="5B6973"/>
                </a:solidFill>
                <a:latin typeface="Aptos" panose="020B0004020202020204" pitchFamily="34" charset="0"/>
              </a:rPr>
              <a:t>Classification performance summary</a:t>
            </a:r>
            <a:endParaRPr lang="en-KE" sz="1100" dirty="0">
              <a:solidFill>
                <a:srgbClr val="5B6973"/>
              </a:solidFill>
              <a:latin typeface="Aptos" panose="020B0004020202020204" pitchFamily="34" charset="0"/>
            </a:endParaRPr>
          </a:p>
        </p:txBody>
      </p:sp>
    </p:spTree>
    <p:extLst>
      <p:ext uri="{BB962C8B-B14F-4D97-AF65-F5344CB8AC3E}">
        <p14:creationId xmlns:p14="http://schemas.microsoft.com/office/powerpoint/2010/main" val="321886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84E133-F4C5-8E2B-5009-28C9206CB2B7}"/>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D4104F4A-467D-4382-9B4C-0003AB7BF521}"/>
              </a:ext>
            </a:extLst>
          </p:cNvPr>
          <p:cNvSpPr/>
          <p:nvPr/>
        </p:nvSpPr>
        <p:spPr>
          <a:xfrm>
            <a:off x="0" y="736600"/>
            <a:ext cx="9144000" cy="63500"/>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225B5144-CF7C-69BA-A66A-04CBBF480EC8}"/>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Clustering and pattern mining</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F033861F-4F1C-FACD-22C9-337523F17132}"/>
              </a:ext>
            </a:extLst>
          </p:cNvPr>
          <p:cNvSpPr txBox="1"/>
          <p:nvPr/>
        </p:nvSpPr>
        <p:spPr>
          <a:xfrm>
            <a:off x="8346402" y="243101"/>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06</a:t>
            </a:r>
          </a:p>
        </p:txBody>
      </p:sp>
      <p:sp>
        <p:nvSpPr>
          <p:cNvPr id="6" name="TextBox 5">
            <a:extLst>
              <a:ext uri="{FF2B5EF4-FFF2-40B4-BE49-F238E27FC236}">
                <a16:creationId xmlns:a16="http://schemas.microsoft.com/office/drawing/2014/main" id="{998150CE-B432-1C19-7F66-714392B45503}"/>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Finding distinct wine profiles and interpretable relationships</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F06AB26C-24D3-43AB-1AEE-0C49B1E9A22A}"/>
              </a:ext>
            </a:extLst>
          </p:cNvPr>
          <p:cNvSpPr/>
          <p:nvPr/>
        </p:nvSpPr>
        <p:spPr>
          <a:xfrm>
            <a:off x="0" y="4834150"/>
            <a:ext cx="9144000" cy="207749"/>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9724E291-2890-CA98-5B55-356C0AC8691B}"/>
              </a:ext>
            </a:extLst>
          </p:cNvPr>
          <p:cNvSpPr txBox="1"/>
          <p:nvPr/>
        </p:nvSpPr>
        <p:spPr>
          <a:xfrm>
            <a:off x="736600" y="4838700"/>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8271203F-5A92-623E-424A-F3BB1D05261F}"/>
              </a:ext>
            </a:extLst>
          </p:cNvPr>
          <p:cNvSpPr txBox="1"/>
          <p:nvPr/>
        </p:nvSpPr>
        <p:spPr>
          <a:xfrm>
            <a:off x="736600" y="1587500"/>
            <a:ext cx="3835400" cy="830997"/>
          </a:xfrm>
          <a:prstGeom prst="rect">
            <a:avLst/>
          </a:prstGeom>
          <a:noFill/>
        </p:spPr>
        <p:txBody>
          <a:bodyPr vert="horz" wrap="square" lIns="0" tIns="0" rIns="0" bIns="0" rtlCol="0">
            <a:noAutofit/>
          </a:bodyPr>
          <a:lstStyle/>
          <a:p>
            <a:pPr>
              <a:spcAft>
                <a:spcPts val="1000"/>
              </a:spcAft>
            </a:pPr>
            <a:r>
              <a:rPr lang="en-US" sz="1800" dirty="0">
                <a:solidFill>
                  <a:srgbClr val="1F2B33"/>
                </a:solidFill>
                <a:latin typeface="Aptos" panose="020B0004020202020204" pitchFamily="34" charset="0"/>
              </a:rPr>
              <a:t>- K-Means identified three chemical profiles</a:t>
            </a:r>
          </a:p>
          <a:p>
            <a:pPr>
              <a:spcAft>
                <a:spcPts val="1000"/>
              </a:spcAft>
            </a:pPr>
            <a:r>
              <a:rPr lang="en-US" sz="1800" dirty="0">
                <a:solidFill>
                  <a:srgbClr val="1F2B33"/>
                </a:solidFill>
                <a:latin typeface="Aptos" panose="020B0004020202020204" pitchFamily="34" charset="0"/>
              </a:rPr>
              <a:t>- PCA made the cluster separation easier to see</a:t>
            </a:r>
          </a:p>
          <a:p>
            <a:pPr>
              <a:spcAft>
                <a:spcPts val="1000"/>
              </a:spcAft>
            </a:pPr>
            <a:r>
              <a:rPr lang="en-US" sz="1800" dirty="0">
                <a:solidFill>
                  <a:srgbClr val="1F2B33"/>
                </a:solidFill>
                <a:latin typeface="Aptos" panose="020B0004020202020204" pitchFamily="34" charset="0"/>
              </a:rPr>
              <a:t>- Association rules translated patterns into plain language</a:t>
            </a:r>
          </a:p>
          <a:p>
            <a:pPr>
              <a:spcAft>
                <a:spcPts val="1000"/>
              </a:spcAft>
            </a:pPr>
            <a:r>
              <a:rPr lang="en-US" sz="1800" dirty="0">
                <a:solidFill>
                  <a:srgbClr val="1F2B33"/>
                </a:solidFill>
                <a:latin typeface="Aptos" panose="020B0004020202020204" pitchFamily="34" charset="0"/>
              </a:rPr>
              <a:t>- Higher alcohol and lower volatile acidity aligned with quality</a:t>
            </a:r>
            <a:endParaRPr lang="en-KE" sz="1800" dirty="0">
              <a:solidFill>
                <a:srgbClr val="1F2B33"/>
              </a:solidFill>
              <a:latin typeface="Aptos" panose="020B0004020202020204" pitchFamily="34" charset="0"/>
            </a:endParaRPr>
          </a:p>
        </p:txBody>
      </p:sp>
      <p:pic>
        <p:nvPicPr>
          <p:cNvPr id="11" name="Picture 10">
            <a:extLst>
              <a:ext uri="{FF2B5EF4-FFF2-40B4-BE49-F238E27FC236}">
                <a16:creationId xmlns:a16="http://schemas.microsoft.com/office/drawing/2014/main" id="{2D4DC7EF-3F9A-F98E-8E88-8134C83C67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388849"/>
            <a:ext cx="4041102" cy="2886502"/>
          </a:xfrm>
          <a:prstGeom prst="rect">
            <a:avLst/>
          </a:prstGeom>
        </p:spPr>
      </p:pic>
      <p:sp>
        <p:nvSpPr>
          <p:cNvPr id="12" name="TextBox 11">
            <a:extLst>
              <a:ext uri="{FF2B5EF4-FFF2-40B4-BE49-F238E27FC236}">
                <a16:creationId xmlns:a16="http://schemas.microsoft.com/office/drawing/2014/main" id="{144936D3-F1DB-1525-8651-DAE6B4723C29}"/>
              </a:ext>
            </a:extLst>
          </p:cNvPr>
          <p:cNvSpPr txBox="1"/>
          <p:nvPr/>
        </p:nvSpPr>
        <p:spPr>
          <a:xfrm>
            <a:off x="5651500" y="4546600"/>
            <a:ext cx="34036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Three K-Means profiles visualized with PCA</a:t>
            </a:r>
            <a:endParaRPr lang="en-KE" sz="1100">
              <a:solidFill>
                <a:srgbClr val="5B6973"/>
              </a:solidFill>
              <a:latin typeface="Aptos" panose="020B0004020202020204" pitchFamily="34" charset="0"/>
            </a:endParaRPr>
          </a:p>
        </p:txBody>
      </p:sp>
    </p:spTree>
    <p:extLst>
      <p:ext uri="{BB962C8B-B14F-4D97-AF65-F5344CB8AC3E}">
        <p14:creationId xmlns:p14="http://schemas.microsoft.com/office/powerpoint/2010/main" val="2010691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DB0142-DB1D-42C7-CC4E-0C457C494753}"/>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F81BF50D-0574-CF21-49B9-2543B5429ECC}"/>
              </a:ext>
            </a:extLst>
          </p:cNvPr>
          <p:cNvSpPr/>
          <p:nvPr/>
        </p:nvSpPr>
        <p:spPr>
          <a:xfrm>
            <a:off x="0" y="736599"/>
            <a:ext cx="9144000" cy="118849"/>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67311711-B112-06AF-4A5E-1FC32B77A9F4}"/>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Ethics and limitations</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F0C07A27-DEB2-9A98-49C0-9D1AB1397D65}"/>
              </a:ext>
            </a:extLst>
          </p:cNvPr>
          <p:cNvSpPr txBox="1"/>
          <p:nvPr/>
        </p:nvSpPr>
        <p:spPr>
          <a:xfrm>
            <a:off x="8140700" y="286657"/>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07</a:t>
            </a:r>
          </a:p>
        </p:txBody>
      </p:sp>
      <p:sp>
        <p:nvSpPr>
          <p:cNvPr id="6" name="TextBox 5">
            <a:extLst>
              <a:ext uri="{FF2B5EF4-FFF2-40B4-BE49-F238E27FC236}">
                <a16:creationId xmlns:a16="http://schemas.microsoft.com/office/drawing/2014/main" id="{6B664720-F1BE-401D-40C4-B86E1EC5168B}"/>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Useful models still need careful boundaries</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05E90A8E-FCC2-BEA0-B60D-D72E443E0C0C}"/>
              </a:ext>
            </a:extLst>
          </p:cNvPr>
          <p:cNvSpPr/>
          <p:nvPr/>
        </p:nvSpPr>
        <p:spPr>
          <a:xfrm>
            <a:off x="0" y="4856843"/>
            <a:ext cx="9144000" cy="273952"/>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BA960957-3CED-260F-57AF-8A1FF48390DC}"/>
              </a:ext>
            </a:extLst>
          </p:cNvPr>
          <p:cNvSpPr txBox="1"/>
          <p:nvPr/>
        </p:nvSpPr>
        <p:spPr>
          <a:xfrm>
            <a:off x="736600" y="4927595"/>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AC745B36-BB26-C85C-6891-32EA0278BD99}"/>
              </a:ext>
            </a:extLst>
          </p:cNvPr>
          <p:cNvSpPr txBox="1"/>
          <p:nvPr/>
        </p:nvSpPr>
        <p:spPr>
          <a:xfrm>
            <a:off x="736600" y="1498600"/>
            <a:ext cx="8890000" cy="207749"/>
          </a:xfrm>
          <a:prstGeom prst="rect">
            <a:avLst/>
          </a:prstGeom>
          <a:noFill/>
        </p:spPr>
        <p:txBody>
          <a:bodyPr vert="horz" wrap="square" lIns="0" tIns="0" rIns="0" bIns="0" rtlCol="0">
            <a:noAutofit/>
          </a:bodyPr>
          <a:lstStyle/>
          <a:p>
            <a:r>
              <a:rPr lang="en-US" sz="2000" b="1">
                <a:solidFill>
                  <a:srgbClr val="CD5146"/>
                </a:solidFill>
                <a:latin typeface="Aptos" panose="020B0004020202020204" pitchFamily="34" charset="0"/>
              </a:rPr>
              <a:t>Use the results as decision support, not as the final decision.</a:t>
            </a:r>
            <a:endParaRPr lang="en-KE" sz="2000" b="1">
              <a:solidFill>
                <a:srgbClr val="CD5146"/>
              </a:solidFill>
              <a:latin typeface="Aptos" panose="020B0004020202020204" pitchFamily="34" charset="0"/>
            </a:endParaRPr>
          </a:p>
        </p:txBody>
      </p:sp>
      <p:sp>
        <p:nvSpPr>
          <p:cNvPr id="10" name="TextBox 9">
            <a:extLst>
              <a:ext uri="{FF2B5EF4-FFF2-40B4-BE49-F238E27FC236}">
                <a16:creationId xmlns:a16="http://schemas.microsoft.com/office/drawing/2014/main" id="{0EFE0BEB-D568-D6F8-AB04-C73429D827CF}"/>
              </a:ext>
            </a:extLst>
          </p:cNvPr>
          <p:cNvSpPr txBox="1"/>
          <p:nvPr/>
        </p:nvSpPr>
        <p:spPr>
          <a:xfrm>
            <a:off x="889000" y="2349500"/>
            <a:ext cx="9652000" cy="830997"/>
          </a:xfrm>
          <a:prstGeom prst="rect">
            <a:avLst/>
          </a:prstGeom>
          <a:noFill/>
        </p:spPr>
        <p:txBody>
          <a:bodyPr vert="horz" wrap="square" lIns="0" tIns="0" rIns="0" bIns="0" rtlCol="0">
            <a:noAutofit/>
          </a:bodyPr>
          <a:lstStyle/>
          <a:p>
            <a:pPr>
              <a:spcAft>
                <a:spcPts val="1000"/>
              </a:spcAft>
            </a:pPr>
            <a:r>
              <a:rPr lang="en-US" sz="2100">
                <a:solidFill>
                  <a:srgbClr val="1F2B33"/>
                </a:solidFill>
                <a:latin typeface="Aptos" panose="020B0004020202020204" pitchFamily="34" charset="0"/>
              </a:rPr>
              <a:t>- The dataset represents one wine type and region</a:t>
            </a:r>
          </a:p>
          <a:p>
            <a:pPr>
              <a:spcAft>
                <a:spcPts val="1000"/>
              </a:spcAft>
            </a:pPr>
            <a:r>
              <a:rPr lang="en-US" sz="2100">
                <a:solidFill>
                  <a:srgbClr val="1F2B33"/>
                </a:solidFill>
                <a:latin typeface="Aptos" panose="020B0004020202020204" pitchFamily="34" charset="0"/>
              </a:rPr>
              <a:t>- Quality ratings include human and subjective judgment</a:t>
            </a:r>
          </a:p>
          <a:p>
            <a:pPr>
              <a:spcAft>
                <a:spcPts val="1000"/>
              </a:spcAft>
            </a:pPr>
            <a:r>
              <a:rPr lang="en-US" sz="2100">
                <a:solidFill>
                  <a:srgbClr val="1F2B33"/>
                </a:solidFill>
                <a:latin typeface="Aptos" panose="020B0004020202020204" pitchFamily="34" charset="0"/>
              </a:rPr>
              <a:t>- Models may not transfer to other wines or consumers</a:t>
            </a:r>
          </a:p>
          <a:p>
            <a:pPr>
              <a:spcAft>
                <a:spcPts val="1000"/>
              </a:spcAft>
            </a:pPr>
            <a:r>
              <a:rPr lang="en-US" sz="2100">
                <a:solidFill>
                  <a:srgbClr val="1F2B33"/>
                </a:solidFill>
                <a:latin typeface="Aptos" panose="020B0004020202020204" pitchFamily="34" charset="0"/>
              </a:rPr>
              <a:t>- External validation is required before broad use</a:t>
            </a:r>
            <a:endParaRPr lang="en-KE" sz="2100">
              <a:solidFill>
                <a:srgbClr val="1F2B33"/>
              </a:solidFill>
              <a:latin typeface="Aptos" panose="020B0004020202020204" pitchFamily="34" charset="0"/>
            </a:endParaRPr>
          </a:p>
        </p:txBody>
      </p:sp>
    </p:spTree>
    <p:extLst>
      <p:ext uri="{BB962C8B-B14F-4D97-AF65-F5344CB8AC3E}">
        <p14:creationId xmlns:p14="http://schemas.microsoft.com/office/powerpoint/2010/main" val="1233974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543CBD-3044-ABFC-F060-79429642680E}"/>
              </a:ext>
            </a:extLst>
          </p:cNvPr>
          <p:cNvSpPr/>
          <p:nvPr/>
        </p:nvSpPr>
        <p:spPr>
          <a:xfrm>
            <a:off x="0" y="0"/>
            <a:ext cx="9144000" cy="7366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DFB66761-7A88-DF19-9D78-47BD281060E5}"/>
              </a:ext>
            </a:extLst>
          </p:cNvPr>
          <p:cNvSpPr/>
          <p:nvPr/>
        </p:nvSpPr>
        <p:spPr>
          <a:xfrm>
            <a:off x="0" y="736600"/>
            <a:ext cx="9144000" cy="87076"/>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8A610A90-44D5-5E61-11CD-F66E17A918A2}"/>
              </a:ext>
            </a:extLst>
          </p:cNvPr>
          <p:cNvSpPr txBox="1"/>
          <p:nvPr/>
        </p:nvSpPr>
        <p:spPr>
          <a:xfrm>
            <a:off x="736600" y="177800"/>
            <a:ext cx="8763000" cy="207749"/>
          </a:xfrm>
          <a:prstGeom prst="rect">
            <a:avLst/>
          </a:prstGeom>
          <a:noFill/>
        </p:spPr>
        <p:txBody>
          <a:bodyPr vert="horz" wrap="square" lIns="0" tIns="0" rIns="0" bIns="0" rtlCol="0">
            <a:noAutofit/>
          </a:bodyPr>
          <a:lstStyle/>
          <a:p>
            <a:r>
              <a:rPr lang="en-US" sz="2400" b="1">
                <a:solidFill>
                  <a:srgbClr val="FFFFFF"/>
                </a:solidFill>
                <a:latin typeface="Aptos" panose="020B0004020202020204" pitchFamily="34" charset="0"/>
              </a:rPr>
              <a:t>Recommendations</a:t>
            </a:r>
            <a:endParaRPr lang="en-KE" sz="24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F7A7ED26-BDA6-C651-F4F1-A5B782005EBB}"/>
              </a:ext>
            </a:extLst>
          </p:cNvPr>
          <p:cNvSpPr txBox="1"/>
          <p:nvPr/>
        </p:nvSpPr>
        <p:spPr>
          <a:xfrm>
            <a:off x="8173358" y="321552"/>
            <a:ext cx="533400" cy="207749"/>
          </a:xfrm>
          <a:prstGeom prst="rect">
            <a:avLst/>
          </a:prstGeom>
          <a:noFill/>
        </p:spPr>
        <p:txBody>
          <a:bodyPr vert="horz" wrap="square" lIns="0" tIns="0" rIns="0" bIns="0" rtlCol="0">
            <a:noAutofit/>
          </a:bodyPr>
          <a:lstStyle/>
          <a:p>
            <a:r>
              <a:rPr lang="en-KE" sz="1400" b="1" dirty="0">
                <a:solidFill>
                  <a:srgbClr val="FFFFFF"/>
                </a:solidFill>
                <a:latin typeface="Aptos" panose="020B0004020202020204" pitchFamily="34" charset="0"/>
              </a:rPr>
              <a:t>08</a:t>
            </a:r>
          </a:p>
        </p:txBody>
      </p:sp>
      <p:sp>
        <p:nvSpPr>
          <p:cNvPr id="6" name="TextBox 5">
            <a:extLst>
              <a:ext uri="{FF2B5EF4-FFF2-40B4-BE49-F238E27FC236}">
                <a16:creationId xmlns:a16="http://schemas.microsoft.com/office/drawing/2014/main" id="{6BFA23E3-CCD2-EE70-C465-054EEBFBD895}"/>
              </a:ext>
            </a:extLst>
          </p:cNvPr>
          <p:cNvSpPr txBox="1"/>
          <p:nvPr/>
        </p:nvSpPr>
        <p:spPr>
          <a:xfrm>
            <a:off x="736600" y="990600"/>
            <a:ext cx="10414000" cy="207749"/>
          </a:xfrm>
          <a:prstGeom prst="rect">
            <a:avLst/>
          </a:prstGeom>
          <a:noFill/>
        </p:spPr>
        <p:txBody>
          <a:bodyPr vert="horz" wrap="square" lIns="0" tIns="0" rIns="0" bIns="0" rtlCol="0">
            <a:noAutofit/>
          </a:bodyPr>
          <a:lstStyle/>
          <a:p>
            <a:r>
              <a:rPr lang="en-US" sz="1100">
                <a:solidFill>
                  <a:srgbClr val="5B6973"/>
                </a:solidFill>
                <a:latin typeface="Aptos" panose="020B0004020202020204" pitchFamily="34" charset="0"/>
              </a:rPr>
              <a:t>What to carry forward from the analysis</a:t>
            </a:r>
            <a:endParaRPr lang="en-KE" sz="1100">
              <a:solidFill>
                <a:srgbClr val="5B6973"/>
              </a:solidFill>
              <a:latin typeface="Aptos" panose="020B0004020202020204" pitchFamily="34" charset="0"/>
            </a:endParaRPr>
          </a:p>
        </p:txBody>
      </p:sp>
      <p:sp>
        <p:nvSpPr>
          <p:cNvPr id="7" name="Rectangle 6">
            <a:extLst>
              <a:ext uri="{FF2B5EF4-FFF2-40B4-BE49-F238E27FC236}">
                <a16:creationId xmlns:a16="http://schemas.microsoft.com/office/drawing/2014/main" id="{AAE8E503-79A0-3135-45BD-542F1FC1C76F}"/>
              </a:ext>
            </a:extLst>
          </p:cNvPr>
          <p:cNvSpPr/>
          <p:nvPr/>
        </p:nvSpPr>
        <p:spPr>
          <a:xfrm>
            <a:off x="0" y="4874994"/>
            <a:ext cx="9144000" cy="2413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363DE9ED-8E82-523B-4B25-DF26D4680DB9}"/>
              </a:ext>
            </a:extLst>
          </p:cNvPr>
          <p:cNvSpPr txBox="1"/>
          <p:nvPr/>
        </p:nvSpPr>
        <p:spPr>
          <a:xfrm>
            <a:off x="736600" y="4913094"/>
            <a:ext cx="6350000" cy="207749"/>
          </a:xfrm>
          <a:prstGeom prst="rect">
            <a:avLst/>
          </a:prstGeom>
          <a:noFill/>
        </p:spPr>
        <p:txBody>
          <a:bodyPr vert="horz" wrap="square" lIns="0" tIns="0" rIns="0" bIns="0" rtlCol="0">
            <a:noAutofit/>
          </a:bodyPr>
          <a:lstStyle/>
          <a:p>
            <a:r>
              <a:rPr lang="en-US" sz="800">
                <a:solidFill>
                  <a:srgbClr val="FFFFFF"/>
                </a:solidFill>
                <a:latin typeface="Aptos" panose="020B0004020202020204" pitchFamily="34" charset="0"/>
              </a:rPr>
              <a:t>MSCS 634 | Wine Quality Data Mining</a:t>
            </a:r>
            <a:endParaRPr lang="en-KE" sz="800">
              <a:solidFill>
                <a:srgbClr val="FFFFFF"/>
              </a:solidFill>
              <a:latin typeface="Aptos" panose="020B0004020202020204" pitchFamily="34" charset="0"/>
            </a:endParaRPr>
          </a:p>
        </p:txBody>
      </p:sp>
      <p:sp>
        <p:nvSpPr>
          <p:cNvPr id="9" name="TextBox 8">
            <a:extLst>
              <a:ext uri="{FF2B5EF4-FFF2-40B4-BE49-F238E27FC236}">
                <a16:creationId xmlns:a16="http://schemas.microsoft.com/office/drawing/2014/main" id="{F917DE54-CBE4-07B5-47E8-E03B25093029}"/>
              </a:ext>
            </a:extLst>
          </p:cNvPr>
          <p:cNvSpPr txBox="1"/>
          <p:nvPr/>
        </p:nvSpPr>
        <p:spPr>
          <a:xfrm>
            <a:off x="210458" y="1119424"/>
            <a:ext cx="482600" cy="207749"/>
          </a:xfrm>
          <a:prstGeom prst="rect">
            <a:avLst/>
          </a:prstGeom>
          <a:noFill/>
        </p:spPr>
        <p:txBody>
          <a:bodyPr vert="horz" wrap="square" lIns="0" tIns="0" rIns="0" bIns="0" rtlCol="0">
            <a:noAutofit/>
          </a:bodyPr>
          <a:lstStyle/>
          <a:p>
            <a:r>
              <a:rPr lang="en-KE" sz="3000" b="1">
                <a:solidFill>
                  <a:srgbClr val="CD5146"/>
                </a:solidFill>
                <a:latin typeface="Aptos" panose="020B0004020202020204" pitchFamily="34" charset="0"/>
              </a:rPr>
              <a:t>1</a:t>
            </a:r>
          </a:p>
        </p:txBody>
      </p:sp>
      <p:sp>
        <p:nvSpPr>
          <p:cNvPr id="10" name="TextBox 9">
            <a:extLst>
              <a:ext uri="{FF2B5EF4-FFF2-40B4-BE49-F238E27FC236}">
                <a16:creationId xmlns:a16="http://schemas.microsoft.com/office/drawing/2014/main" id="{A644D43C-3CA5-92C0-4D0C-166C96E52DD6}"/>
              </a:ext>
            </a:extLst>
          </p:cNvPr>
          <p:cNvSpPr txBox="1"/>
          <p:nvPr/>
        </p:nvSpPr>
        <p:spPr>
          <a:xfrm>
            <a:off x="959758" y="1157524"/>
            <a:ext cx="5715000" cy="207749"/>
          </a:xfrm>
          <a:prstGeom prst="rect">
            <a:avLst/>
          </a:prstGeom>
          <a:noFill/>
        </p:spPr>
        <p:txBody>
          <a:bodyPr vert="horz" wrap="square" lIns="0" tIns="0" rIns="0" bIns="0" rtlCol="0">
            <a:noAutofit/>
          </a:bodyPr>
          <a:lstStyle/>
          <a:p>
            <a:r>
              <a:rPr lang="en-US" sz="2000" b="1">
                <a:solidFill>
                  <a:srgbClr val="1F2B33"/>
                </a:solidFill>
                <a:latin typeface="Aptos" panose="020B0004020202020204" pitchFamily="34" charset="0"/>
              </a:rPr>
              <a:t>Keep the strongest chemical indicators</a:t>
            </a:r>
            <a:endParaRPr lang="en-KE" sz="2000" b="1">
              <a:solidFill>
                <a:srgbClr val="1F2B33"/>
              </a:solidFill>
              <a:latin typeface="Aptos" panose="020B0004020202020204" pitchFamily="34" charset="0"/>
            </a:endParaRPr>
          </a:p>
        </p:txBody>
      </p:sp>
      <p:sp>
        <p:nvSpPr>
          <p:cNvPr id="11" name="TextBox 10">
            <a:extLst>
              <a:ext uri="{FF2B5EF4-FFF2-40B4-BE49-F238E27FC236}">
                <a16:creationId xmlns:a16="http://schemas.microsoft.com/office/drawing/2014/main" id="{AF709ED1-B4EA-82BD-4342-7C957342A35F}"/>
              </a:ext>
            </a:extLst>
          </p:cNvPr>
          <p:cNvSpPr txBox="1"/>
          <p:nvPr/>
        </p:nvSpPr>
        <p:spPr>
          <a:xfrm>
            <a:off x="959758" y="1589324"/>
            <a:ext cx="7747000" cy="207749"/>
          </a:xfrm>
          <a:prstGeom prst="rect">
            <a:avLst/>
          </a:prstGeom>
          <a:noFill/>
        </p:spPr>
        <p:txBody>
          <a:bodyPr vert="horz" wrap="square" lIns="0" tIns="0" rIns="0" bIns="0" rtlCol="0">
            <a:noAutofit/>
          </a:bodyPr>
          <a:lstStyle/>
          <a:p>
            <a:r>
              <a:rPr lang="en-US" sz="1500">
                <a:solidFill>
                  <a:srgbClr val="5B6973"/>
                </a:solidFill>
                <a:latin typeface="Aptos" panose="020B0004020202020204" pitchFamily="34" charset="0"/>
              </a:rPr>
              <a:t>Alcohol, volatile acidity, sulphates, and density remain useful features.</a:t>
            </a:r>
            <a:endParaRPr lang="en-KE" sz="1500">
              <a:solidFill>
                <a:srgbClr val="5B6973"/>
              </a:solidFill>
              <a:latin typeface="Aptos" panose="020B0004020202020204" pitchFamily="34" charset="0"/>
            </a:endParaRPr>
          </a:p>
        </p:txBody>
      </p:sp>
      <p:sp>
        <p:nvSpPr>
          <p:cNvPr id="12" name="TextBox 11">
            <a:extLst>
              <a:ext uri="{FF2B5EF4-FFF2-40B4-BE49-F238E27FC236}">
                <a16:creationId xmlns:a16="http://schemas.microsoft.com/office/drawing/2014/main" id="{2C925377-DE7D-1878-6D9D-836ED1465F76}"/>
              </a:ext>
            </a:extLst>
          </p:cNvPr>
          <p:cNvSpPr txBox="1"/>
          <p:nvPr/>
        </p:nvSpPr>
        <p:spPr>
          <a:xfrm>
            <a:off x="210458" y="2579924"/>
            <a:ext cx="482600" cy="207749"/>
          </a:xfrm>
          <a:prstGeom prst="rect">
            <a:avLst/>
          </a:prstGeom>
          <a:noFill/>
        </p:spPr>
        <p:txBody>
          <a:bodyPr vert="horz" wrap="square" lIns="0" tIns="0" rIns="0" bIns="0" rtlCol="0">
            <a:noAutofit/>
          </a:bodyPr>
          <a:lstStyle/>
          <a:p>
            <a:r>
              <a:rPr lang="en-KE" sz="3000" b="1">
                <a:solidFill>
                  <a:srgbClr val="CD5146"/>
                </a:solidFill>
                <a:latin typeface="Aptos" panose="020B0004020202020204" pitchFamily="34" charset="0"/>
              </a:rPr>
              <a:t>2</a:t>
            </a:r>
          </a:p>
        </p:txBody>
      </p:sp>
      <p:sp>
        <p:nvSpPr>
          <p:cNvPr id="13" name="TextBox 12">
            <a:extLst>
              <a:ext uri="{FF2B5EF4-FFF2-40B4-BE49-F238E27FC236}">
                <a16:creationId xmlns:a16="http://schemas.microsoft.com/office/drawing/2014/main" id="{F0D5975A-4159-5B69-B11A-45AA6084B8FF}"/>
              </a:ext>
            </a:extLst>
          </p:cNvPr>
          <p:cNvSpPr txBox="1"/>
          <p:nvPr/>
        </p:nvSpPr>
        <p:spPr>
          <a:xfrm>
            <a:off x="959758" y="2618024"/>
            <a:ext cx="5715000" cy="207749"/>
          </a:xfrm>
          <a:prstGeom prst="rect">
            <a:avLst/>
          </a:prstGeom>
          <a:noFill/>
        </p:spPr>
        <p:txBody>
          <a:bodyPr vert="horz" wrap="square" lIns="0" tIns="0" rIns="0" bIns="0" rtlCol="0">
            <a:noAutofit/>
          </a:bodyPr>
          <a:lstStyle/>
          <a:p>
            <a:r>
              <a:rPr lang="en-US" sz="2000" b="1">
                <a:solidFill>
                  <a:srgbClr val="1F2B33"/>
                </a:solidFill>
                <a:latin typeface="Aptos" panose="020B0004020202020204" pitchFamily="34" charset="0"/>
              </a:rPr>
              <a:t>Use models for targeted screening</a:t>
            </a:r>
            <a:endParaRPr lang="en-KE" sz="2000" b="1">
              <a:solidFill>
                <a:srgbClr val="1F2B33"/>
              </a:solidFill>
              <a:latin typeface="Aptos" panose="020B0004020202020204" pitchFamily="34" charset="0"/>
            </a:endParaRPr>
          </a:p>
        </p:txBody>
      </p:sp>
      <p:sp>
        <p:nvSpPr>
          <p:cNvPr id="14" name="TextBox 13">
            <a:extLst>
              <a:ext uri="{FF2B5EF4-FFF2-40B4-BE49-F238E27FC236}">
                <a16:creationId xmlns:a16="http://schemas.microsoft.com/office/drawing/2014/main" id="{27F8906F-D22D-209A-179A-78F3CB31A080}"/>
              </a:ext>
            </a:extLst>
          </p:cNvPr>
          <p:cNvSpPr txBox="1"/>
          <p:nvPr/>
        </p:nvSpPr>
        <p:spPr>
          <a:xfrm>
            <a:off x="959758" y="3049824"/>
            <a:ext cx="7747000" cy="207749"/>
          </a:xfrm>
          <a:prstGeom prst="rect">
            <a:avLst/>
          </a:prstGeom>
          <a:noFill/>
        </p:spPr>
        <p:txBody>
          <a:bodyPr vert="horz" wrap="square" lIns="0" tIns="0" rIns="0" bIns="0" rtlCol="0">
            <a:noAutofit/>
          </a:bodyPr>
          <a:lstStyle/>
          <a:p>
            <a:r>
              <a:rPr lang="en-US" sz="1500">
                <a:solidFill>
                  <a:srgbClr val="5B6973"/>
                </a:solidFill>
                <a:latin typeface="Aptos" panose="020B0004020202020204" pitchFamily="34" charset="0"/>
              </a:rPr>
              <a:t>Use classification for initial screening and clustering for profile-based decisions.</a:t>
            </a:r>
            <a:endParaRPr lang="en-KE" sz="1500">
              <a:solidFill>
                <a:srgbClr val="5B6973"/>
              </a:solidFill>
              <a:latin typeface="Aptos" panose="020B0004020202020204" pitchFamily="34" charset="0"/>
            </a:endParaRPr>
          </a:p>
        </p:txBody>
      </p:sp>
      <p:sp>
        <p:nvSpPr>
          <p:cNvPr id="15" name="TextBox 14">
            <a:extLst>
              <a:ext uri="{FF2B5EF4-FFF2-40B4-BE49-F238E27FC236}">
                <a16:creationId xmlns:a16="http://schemas.microsoft.com/office/drawing/2014/main" id="{DEC2093A-15A3-665F-81B7-0697F9FA61D6}"/>
              </a:ext>
            </a:extLst>
          </p:cNvPr>
          <p:cNvSpPr txBox="1"/>
          <p:nvPr/>
        </p:nvSpPr>
        <p:spPr>
          <a:xfrm>
            <a:off x="210458" y="4040424"/>
            <a:ext cx="482600" cy="207749"/>
          </a:xfrm>
          <a:prstGeom prst="rect">
            <a:avLst/>
          </a:prstGeom>
          <a:noFill/>
        </p:spPr>
        <p:txBody>
          <a:bodyPr vert="horz" wrap="square" lIns="0" tIns="0" rIns="0" bIns="0" rtlCol="0">
            <a:noAutofit/>
          </a:bodyPr>
          <a:lstStyle/>
          <a:p>
            <a:r>
              <a:rPr lang="en-KE" sz="3000" b="1">
                <a:solidFill>
                  <a:srgbClr val="CD5146"/>
                </a:solidFill>
                <a:latin typeface="Aptos" panose="020B0004020202020204" pitchFamily="34" charset="0"/>
              </a:rPr>
              <a:t>3</a:t>
            </a:r>
          </a:p>
        </p:txBody>
      </p:sp>
      <p:sp>
        <p:nvSpPr>
          <p:cNvPr id="16" name="TextBox 15">
            <a:extLst>
              <a:ext uri="{FF2B5EF4-FFF2-40B4-BE49-F238E27FC236}">
                <a16:creationId xmlns:a16="http://schemas.microsoft.com/office/drawing/2014/main" id="{8AC9BF92-DEFE-DE03-331D-B425D1D63BAB}"/>
              </a:ext>
            </a:extLst>
          </p:cNvPr>
          <p:cNvSpPr txBox="1"/>
          <p:nvPr/>
        </p:nvSpPr>
        <p:spPr>
          <a:xfrm>
            <a:off x="959758" y="4078524"/>
            <a:ext cx="6604000" cy="207749"/>
          </a:xfrm>
          <a:prstGeom prst="rect">
            <a:avLst/>
          </a:prstGeom>
          <a:noFill/>
        </p:spPr>
        <p:txBody>
          <a:bodyPr vert="horz" wrap="square" lIns="0" tIns="0" rIns="0" bIns="0" rtlCol="0">
            <a:noAutofit/>
          </a:bodyPr>
          <a:lstStyle/>
          <a:p>
            <a:r>
              <a:rPr lang="en-US" sz="2000" b="1">
                <a:solidFill>
                  <a:srgbClr val="1F2B33"/>
                </a:solidFill>
                <a:latin typeface="Aptos" panose="020B0004020202020204" pitchFamily="34" charset="0"/>
              </a:rPr>
              <a:t>Add richer data before expanding use</a:t>
            </a:r>
            <a:endParaRPr lang="en-KE" sz="2000" b="1">
              <a:solidFill>
                <a:srgbClr val="1F2B33"/>
              </a:solidFill>
              <a:latin typeface="Aptos" panose="020B0004020202020204" pitchFamily="34" charset="0"/>
            </a:endParaRPr>
          </a:p>
        </p:txBody>
      </p:sp>
      <p:sp>
        <p:nvSpPr>
          <p:cNvPr id="17" name="TextBox 16">
            <a:extLst>
              <a:ext uri="{FF2B5EF4-FFF2-40B4-BE49-F238E27FC236}">
                <a16:creationId xmlns:a16="http://schemas.microsoft.com/office/drawing/2014/main" id="{5C416C52-C239-BB87-DB72-E89040D27C2C}"/>
              </a:ext>
            </a:extLst>
          </p:cNvPr>
          <p:cNvSpPr txBox="1"/>
          <p:nvPr/>
        </p:nvSpPr>
        <p:spPr>
          <a:xfrm>
            <a:off x="959758" y="4510324"/>
            <a:ext cx="7747000" cy="207749"/>
          </a:xfrm>
          <a:prstGeom prst="rect">
            <a:avLst/>
          </a:prstGeom>
          <a:noFill/>
        </p:spPr>
        <p:txBody>
          <a:bodyPr vert="horz" wrap="square" lIns="0" tIns="0" rIns="0" bIns="0" rtlCol="0">
            <a:noAutofit/>
          </a:bodyPr>
          <a:lstStyle/>
          <a:p>
            <a:r>
              <a:rPr lang="en-US" sz="1500">
                <a:solidFill>
                  <a:srgbClr val="5B6973"/>
                </a:solidFill>
                <a:latin typeface="Aptos" panose="020B0004020202020204" pitchFamily="34" charset="0"/>
              </a:rPr>
              <a:t>Future work should include sensory, production, region, and consumer preference data.</a:t>
            </a:r>
            <a:endParaRPr lang="en-KE" sz="1500">
              <a:solidFill>
                <a:srgbClr val="5B6973"/>
              </a:solidFill>
              <a:latin typeface="Aptos" panose="020B0004020202020204" pitchFamily="34" charset="0"/>
            </a:endParaRPr>
          </a:p>
        </p:txBody>
      </p:sp>
    </p:spTree>
    <p:extLst>
      <p:ext uri="{BB962C8B-B14F-4D97-AF65-F5344CB8AC3E}">
        <p14:creationId xmlns:p14="http://schemas.microsoft.com/office/powerpoint/2010/main" val="13034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1F59AD-1360-82C4-1C83-4984BDD02E52}"/>
              </a:ext>
            </a:extLst>
          </p:cNvPr>
          <p:cNvSpPr/>
          <p:nvPr/>
        </p:nvSpPr>
        <p:spPr>
          <a:xfrm>
            <a:off x="0" y="0"/>
            <a:ext cx="9144000" cy="5143500"/>
          </a:xfrm>
          <a:prstGeom prst="rect">
            <a:avLst/>
          </a:prstGeom>
          <a:solidFill>
            <a:srgbClr val="1231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3" name="Rectangle 2">
            <a:extLst>
              <a:ext uri="{FF2B5EF4-FFF2-40B4-BE49-F238E27FC236}">
                <a16:creationId xmlns:a16="http://schemas.microsoft.com/office/drawing/2014/main" id="{BDC05436-663E-D90B-C128-4F25A3D3A511}"/>
              </a:ext>
            </a:extLst>
          </p:cNvPr>
          <p:cNvSpPr/>
          <p:nvPr/>
        </p:nvSpPr>
        <p:spPr>
          <a:xfrm>
            <a:off x="0" y="0"/>
            <a:ext cx="290286" cy="5154306"/>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4" name="TextBox 3">
            <a:extLst>
              <a:ext uri="{FF2B5EF4-FFF2-40B4-BE49-F238E27FC236}">
                <a16:creationId xmlns:a16="http://schemas.microsoft.com/office/drawing/2014/main" id="{511C5B74-450F-2A85-A507-27CF8902577F}"/>
              </a:ext>
            </a:extLst>
          </p:cNvPr>
          <p:cNvSpPr txBox="1"/>
          <p:nvPr/>
        </p:nvSpPr>
        <p:spPr>
          <a:xfrm>
            <a:off x="889000" y="863600"/>
            <a:ext cx="5080000" cy="207749"/>
          </a:xfrm>
          <a:prstGeom prst="rect">
            <a:avLst/>
          </a:prstGeom>
          <a:noFill/>
        </p:spPr>
        <p:txBody>
          <a:bodyPr vert="horz" wrap="square" lIns="0" tIns="0" rIns="0" bIns="0" rtlCol="0">
            <a:noAutofit/>
          </a:bodyPr>
          <a:lstStyle/>
          <a:p>
            <a:r>
              <a:rPr lang="en-US" sz="3000" b="1">
                <a:solidFill>
                  <a:srgbClr val="FFFFFF"/>
                </a:solidFill>
                <a:latin typeface="Aptos" panose="020B0004020202020204" pitchFamily="34" charset="0"/>
              </a:rPr>
              <a:t>References</a:t>
            </a:r>
            <a:endParaRPr lang="en-KE" sz="3000" b="1">
              <a:solidFill>
                <a:srgbClr val="FFFFFF"/>
              </a:solidFill>
              <a:latin typeface="Aptos" panose="020B0004020202020204" pitchFamily="34" charset="0"/>
            </a:endParaRPr>
          </a:p>
        </p:txBody>
      </p:sp>
      <p:sp>
        <p:nvSpPr>
          <p:cNvPr id="5" name="Rectangle 4">
            <a:extLst>
              <a:ext uri="{FF2B5EF4-FFF2-40B4-BE49-F238E27FC236}">
                <a16:creationId xmlns:a16="http://schemas.microsoft.com/office/drawing/2014/main" id="{9C5FA309-F2BC-E6E7-5936-3DF1AADA6FE4}"/>
              </a:ext>
            </a:extLst>
          </p:cNvPr>
          <p:cNvSpPr/>
          <p:nvPr/>
        </p:nvSpPr>
        <p:spPr>
          <a:xfrm>
            <a:off x="889000" y="1574800"/>
            <a:ext cx="7036755" cy="25400"/>
          </a:xfrm>
          <a:prstGeom prst="rect">
            <a:avLst/>
          </a:prstGeom>
          <a:solidFill>
            <a:srgbClr val="CD514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6" name="TextBox 5">
            <a:extLst>
              <a:ext uri="{FF2B5EF4-FFF2-40B4-BE49-F238E27FC236}">
                <a16:creationId xmlns:a16="http://schemas.microsoft.com/office/drawing/2014/main" id="{011BCE34-8236-984E-DA83-9EA382CDE3C4}"/>
              </a:ext>
            </a:extLst>
          </p:cNvPr>
          <p:cNvSpPr txBox="1"/>
          <p:nvPr/>
        </p:nvSpPr>
        <p:spPr>
          <a:xfrm>
            <a:off x="889000" y="2095500"/>
            <a:ext cx="7427686" cy="415498"/>
          </a:xfrm>
          <a:prstGeom prst="rect">
            <a:avLst/>
          </a:prstGeom>
          <a:noFill/>
        </p:spPr>
        <p:txBody>
          <a:bodyPr vert="horz" wrap="square" lIns="0" tIns="0" rIns="0" bIns="0" rtlCol="0">
            <a:noAutofit/>
          </a:bodyPr>
          <a:lstStyle/>
          <a:p>
            <a:r>
              <a:rPr lang="en-US" sz="1500">
                <a:solidFill>
                  <a:srgbClr val="FFFFFF"/>
                </a:solidFill>
                <a:latin typeface="Aptos" panose="020B0004020202020204" pitchFamily="34" charset="0"/>
              </a:rPr>
              <a:t>Cortez, P., Cerdeira, A., Almeida, F., Matos, T., &amp; Reis, J. (2009). Modeling wine preferences by data mining from physicochemical properties. Decision Support Systems, 47(4), 547-553. https://doi.org/10.1016/j.dss.2009.05.016</a:t>
            </a:r>
            <a:endParaRPr lang="en-KE" sz="1500">
              <a:solidFill>
                <a:srgbClr val="FFFFFF"/>
              </a:solidFill>
              <a:latin typeface="Aptos" panose="020B0004020202020204" pitchFamily="34" charset="0"/>
            </a:endParaRPr>
          </a:p>
        </p:txBody>
      </p:sp>
      <p:sp>
        <p:nvSpPr>
          <p:cNvPr id="7" name="TextBox 6">
            <a:extLst>
              <a:ext uri="{FF2B5EF4-FFF2-40B4-BE49-F238E27FC236}">
                <a16:creationId xmlns:a16="http://schemas.microsoft.com/office/drawing/2014/main" id="{43597C14-E9B1-7652-36CC-DEE1D7628302}"/>
              </a:ext>
            </a:extLst>
          </p:cNvPr>
          <p:cNvSpPr txBox="1"/>
          <p:nvPr/>
        </p:nvSpPr>
        <p:spPr>
          <a:xfrm>
            <a:off x="889000" y="3810000"/>
            <a:ext cx="7427686" cy="207749"/>
          </a:xfrm>
          <a:prstGeom prst="rect">
            <a:avLst/>
          </a:prstGeom>
          <a:noFill/>
        </p:spPr>
        <p:txBody>
          <a:bodyPr vert="horz" wrap="square" lIns="0" tIns="0" rIns="0" bIns="0" rtlCol="0">
            <a:noAutofit/>
          </a:bodyPr>
          <a:lstStyle/>
          <a:p>
            <a:r>
              <a:rPr lang="en-US" sz="1500">
                <a:solidFill>
                  <a:srgbClr val="FFFFFF"/>
                </a:solidFill>
                <a:latin typeface="Aptos" panose="020B0004020202020204" pitchFamily="34" charset="0"/>
              </a:rPr>
              <a:t>UCI Machine Learning Repository. (2009). Wine quality dataset. https://archive.ics.uci.edu/dataset/186/wine+quality</a:t>
            </a:r>
            <a:endParaRPr lang="en-KE" sz="1500">
              <a:solidFill>
                <a:srgbClr val="FFFFFF"/>
              </a:solidFill>
              <a:latin typeface="Aptos" panose="020B0004020202020204" pitchFamily="34" charset="0"/>
            </a:endParaRPr>
          </a:p>
        </p:txBody>
      </p:sp>
      <p:sp>
        <p:nvSpPr>
          <p:cNvPr id="8" name="TextBox 7">
            <a:extLst>
              <a:ext uri="{FF2B5EF4-FFF2-40B4-BE49-F238E27FC236}">
                <a16:creationId xmlns:a16="http://schemas.microsoft.com/office/drawing/2014/main" id="{7EFA6826-85A8-D086-C42C-F18053D95097}"/>
              </a:ext>
            </a:extLst>
          </p:cNvPr>
          <p:cNvSpPr txBox="1"/>
          <p:nvPr/>
        </p:nvSpPr>
        <p:spPr>
          <a:xfrm>
            <a:off x="889000" y="4601029"/>
            <a:ext cx="3810000" cy="207749"/>
          </a:xfrm>
          <a:prstGeom prst="rect">
            <a:avLst/>
          </a:prstGeom>
          <a:noFill/>
        </p:spPr>
        <p:txBody>
          <a:bodyPr vert="horz" wrap="square" lIns="0" tIns="0" rIns="0" bIns="0" rtlCol="0">
            <a:noAutofit/>
          </a:bodyPr>
          <a:lstStyle/>
          <a:p>
            <a:r>
              <a:rPr lang="en-US" sz="2400" b="1" dirty="0">
                <a:solidFill>
                  <a:srgbClr val="CD5146"/>
                </a:solidFill>
                <a:latin typeface="Aptos" panose="020B0004020202020204" pitchFamily="34" charset="0"/>
              </a:rPr>
              <a:t>Thank you</a:t>
            </a:r>
            <a:endParaRPr lang="en-KE" sz="2400" b="1" dirty="0">
              <a:solidFill>
                <a:srgbClr val="CD5146"/>
              </a:solidFill>
              <a:latin typeface="Aptos" panose="020B0004020202020204" pitchFamily="34" charset="0"/>
            </a:endParaRPr>
          </a:p>
        </p:txBody>
      </p:sp>
    </p:spTree>
    <p:extLst>
      <p:ext uri="{BB962C8B-B14F-4D97-AF65-F5344CB8AC3E}">
        <p14:creationId xmlns:p14="http://schemas.microsoft.com/office/powerpoint/2010/main" val="1193845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1113</Words>
  <Application>Microsoft Office PowerPoint</Application>
  <PresentationFormat>On-screen Show (16:9)</PresentationFormat>
  <Paragraphs>102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Rabi Gurung</cp:lastModifiedBy>
  <cp:revision>2</cp:revision>
  <dcterms:created xsi:type="dcterms:W3CDTF">2026-07-10T12:14:29Z</dcterms:created>
  <dcterms:modified xsi:type="dcterms:W3CDTF">2026-08-21T17:57:25Z</dcterms:modified>
</cp:coreProperties>
</file>